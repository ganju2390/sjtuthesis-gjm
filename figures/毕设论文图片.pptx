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1779" r:id="rId4"/>
    <p:sldId id="1780" r:id="rId5"/>
    <p:sldId id="1783" r:id="rId6"/>
    <p:sldId id="258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B368"/>
    <a:srgbClr val="DAD4B9"/>
    <a:srgbClr val="EFE9E7"/>
    <a:srgbClr val="82C0AF"/>
    <a:srgbClr val="0B76A0"/>
    <a:srgbClr val="104862"/>
    <a:srgbClr val="E7E6EC"/>
    <a:srgbClr val="285171"/>
    <a:srgbClr val="161E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60"/>
  </p:normalViewPr>
  <p:slideViewPr>
    <p:cSldViewPr snapToGrid="0">
      <p:cViewPr varScale="1">
        <p:scale>
          <a:sx n="72" d="100"/>
          <a:sy n="72" d="100"/>
        </p:scale>
        <p:origin x="91" y="3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29A8F8-5809-58C7-F83F-0CBA1737D6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0E53B75-3216-7D53-22D9-0B8400960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C6796A-A8A8-B450-2E7A-8C697EA37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8EA46-EBA5-4B27-A366-083832B10AAB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78B625-CBE7-2666-922D-43EF78AB4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C6ED56-8278-F6CB-61EC-5A660183C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D49D-8C74-42FB-9335-2CBDF096F9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16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874042-FB93-A2C2-C509-1D8344D11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C63E6E-DE90-0FEB-2DAC-8F45AC697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739660-2D21-BC94-1B6D-9E2AAA117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8EA46-EBA5-4B27-A366-083832B10AAB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894452-65F5-FA2F-CF06-9FD3AFC9D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E72407-0F65-CAAD-118A-57F753B1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D49D-8C74-42FB-9335-2CBDF096F9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0128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E48969-3B76-4E7F-5F5F-E6CDADAFD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14B53E-8F8C-25B7-7ACD-A6A82D220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0C87E4-669F-226E-1D2A-F6A5BBECB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8EA46-EBA5-4B27-A366-083832B10AAB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541B87-2F58-B5A5-5146-C60D7483D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D377D8-2850-31D3-39DD-C229F0E33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D49D-8C74-42FB-9335-2CBDF096F9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88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AE7E01-6C2E-7CF4-882C-7B1EC24EB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8C7E23-66F4-51D2-300B-11A274BAF0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3C33C9F-C083-3AE1-1231-EF42F52163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73EB94-F8B1-3597-6BFC-34B77B33B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8EA46-EBA5-4B27-A366-083832B10AAB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CD7847-1C71-98B0-64AB-34AE50D10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D2F518-B280-B12D-224B-1821D92DD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D49D-8C74-42FB-9335-2CBDF096F9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7620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C9DDED-63AA-CCA4-972E-D7AC360AF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5EE5C6-BB08-9371-E253-59DA9D758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8176695-2E45-EA82-80B0-6C9105BC23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6234E0D-9A34-A3F3-1589-AAEECDEA7F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049FC6C-A599-6857-86D6-73BAD1418A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2C8E4EE-29AE-CC97-18E8-B758DFE2D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8EA46-EBA5-4B27-A366-083832B10AAB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924207D-3433-EB61-F3E7-00EAB9802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F058280-9054-CFD3-6E31-5A39BE22D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D49D-8C74-42FB-9335-2CBDF096F9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0789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02B963-4134-FFEB-484C-AB6C2FE2E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781F8B7-4764-3C03-D2A0-E723B390E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8EA46-EBA5-4B27-A366-083832B10AAB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A217A5A-908A-E4B2-C2F5-AFDCE6270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116FFD6-E51B-1913-4FDD-5408C803F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D49D-8C74-42FB-9335-2CBDF096F9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0139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328C107-66CD-2091-5BFD-CCE2483DA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8EA46-EBA5-4B27-A366-083832B10AAB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1C50259-B545-BBF9-7AD1-31B6DA71B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8D9A30-9B1E-5701-1733-B25CE0451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D49D-8C74-42FB-9335-2CBDF096F9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792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A64004-720A-3965-0A49-B3460D480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EF8202-B3B8-7A60-42B4-767A1B7A7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248E669-82DC-5D5E-C86E-5D56640B1E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45B02F-5C95-5F97-9DE6-A1F8271AC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8EA46-EBA5-4B27-A366-083832B10AAB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070716-3655-3EC3-C148-C8C63E565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CF18CF-75CA-65E3-F2C5-AFF81F8E3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D49D-8C74-42FB-9335-2CBDF096F9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2908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6F8FF8-CF43-B982-5C89-986F2BC3A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CCD1BA0-F457-D39F-E49C-321FB92D1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F4C7329-1759-E789-1D9C-662930800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6F8521-B037-83D2-7513-306487062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8EA46-EBA5-4B27-A366-083832B10AAB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7C6BC97-D021-9ED2-2BC6-53CA2E1AD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CBAA0D-2E3B-1C18-75BD-865687BAA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D49D-8C74-42FB-9335-2CBDF096F9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3614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E00E43-AFA1-97EF-8678-5AE401017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893AC7-B4EB-E104-8FFE-8E28F7EDEE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2A91ED-2E45-629B-9710-F7F5C18F7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8EA46-EBA5-4B27-A366-083832B10AAB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EC4B4B-A0A9-E1C0-F88C-236431F9E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141BB8-D018-ED42-47EF-B12144777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D49D-8C74-42FB-9335-2CBDF096F9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569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41CD34D-6ABB-0017-0CEB-F91E8B4511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85B70A-658C-D69A-8A51-708A69C96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5936E1-8E92-FC83-1F38-580285892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8EA46-EBA5-4B27-A366-083832B10AAB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DB47DF-13FA-30C0-1E69-78B4D2E7C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2F5FEE-3630-9645-16BE-466444F97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D49D-8C74-42FB-9335-2CBDF096F9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26308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18" name="平行四边形 17"/>
          <p:cNvSpPr/>
          <p:nvPr userDrawn="1"/>
        </p:nvSpPr>
        <p:spPr>
          <a:xfrm>
            <a:off x="0" y="1"/>
            <a:ext cx="12191483" cy="685800"/>
          </a:xfrm>
          <a:prstGeom prst="parallelogram">
            <a:avLst>
              <a:gd name="adj" fmla="val 4444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7" name="图片 6" descr="图片包含 户外, 标牌, 黑色&#10;&#10;自动生成的说明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1075351" y="43657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19056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文本占位符 31"/>
          <p:cNvSpPr>
            <a:spLocks noGrp="1"/>
          </p:cNvSpPr>
          <p:nvPr>
            <p:ph type="body" sz="quarter" idx="13"/>
          </p:nvPr>
        </p:nvSpPr>
        <p:spPr>
          <a:xfrm>
            <a:off x="4788940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4" hasCustomPrompt="1"/>
          </p:nvPr>
        </p:nvSpPr>
        <p:spPr>
          <a:xfrm>
            <a:off x="319056" y="766710"/>
            <a:ext cx="11568144" cy="4765791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30000"/>
              </a:lnSpc>
              <a:buFontTx/>
              <a:buBlip>
                <a:blip r:embed="rId4"/>
              </a:buBlip>
              <a:defRPr sz="2000">
                <a:solidFill>
                  <a:schemeClr val="accent2"/>
                </a:solidFill>
              </a:defRPr>
            </a:lvl1pPr>
            <a:lvl2pPr>
              <a:lnSpc>
                <a:spcPct val="130000"/>
              </a:lnSpc>
              <a:defRPr sz="2000">
                <a:solidFill>
                  <a:schemeClr val="accent2"/>
                </a:solidFill>
              </a:defRPr>
            </a:lvl2pPr>
            <a:lvl3pPr>
              <a:lnSpc>
                <a:spcPct val="130000"/>
              </a:lnSpc>
              <a:defRPr sz="1800">
                <a:solidFill>
                  <a:schemeClr val="accent2"/>
                </a:solidFill>
              </a:defRPr>
            </a:lvl3pPr>
            <a:lvl4pPr>
              <a:lnSpc>
                <a:spcPct val="130000"/>
              </a:lnSpc>
              <a:defRPr sz="1600">
                <a:solidFill>
                  <a:schemeClr val="accent2"/>
                </a:solidFill>
              </a:defRPr>
            </a:lvl4pPr>
            <a:lvl5pPr>
              <a:lnSpc>
                <a:spcPct val="130000"/>
              </a:lnSpc>
              <a:defRPr sz="1600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1" name="平行四边形 20"/>
          <p:cNvSpPr/>
          <p:nvPr userDrawn="1"/>
        </p:nvSpPr>
        <p:spPr>
          <a:xfrm>
            <a:off x="11428834" y="119857"/>
            <a:ext cx="473565" cy="242093"/>
          </a:xfrm>
          <a:prstGeom prst="parallelogram">
            <a:avLst>
              <a:gd name="adj" fmla="val 4444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平行四边形 21"/>
          <p:cNvSpPr/>
          <p:nvPr userDrawn="1"/>
        </p:nvSpPr>
        <p:spPr>
          <a:xfrm>
            <a:off x="11016782" y="322602"/>
            <a:ext cx="473565" cy="242093"/>
          </a:xfrm>
          <a:prstGeom prst="parallelogram">
            <a:avLst>
              <a:gd name="adj" fmla="val 4444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6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DBB0DCB-49D1-5202-D092-0FF4A375A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3C98AF-D6D8-7B09-9CD9-CB7FFB1D3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5F6697-32A9-C44F-4CB4-69944F00C7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D8EA46-EBA5-4B27-A366-083832B10AAB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944562-1178-A7A0-563A-0D640E294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73B25F-9B99-52CD-883C-DE26BE5B7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E4D49D-8C74-42FB-9335-2CBDF096F9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7879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5.png"/><Relationship Id="rId7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0.png"/><Relationship Id="rId10" Type="http://schemas.openxmlformats.org/officeDocument/2006/relationships/image" Target="../media/image9.png"/><Relationship Id="rId4" Type="http://schemas.openxmlformats.org/officeDocument/2006/relationships/image" Target="../media/image30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../media/image11.png"/><Relationship Id="rId2" Type="http://schemas.openxmlformats.org/officeDocument/2006/relationships/image" Target="NULL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../media/image19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12" Type="http://schemas.openxmlformats.org/officeDocument/2006/relationships/image" Target="../media/image1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11" Type="http://schemas.openxmlformats.org/officeDocument/2006/relationships/image" Target="../media/image17.png"/><Relationship Id="rId5" Type="http://schemas.openxmlformats.org/officeDocument/2006/relationships/image" Target="../media/image15.png"/><Relationship Id="rId10" Type="http://schemas.openxmlformats.org/officeDocument/2006/relationships/image" Target="NULL"/><Relationship Id="rId4" Type="http://schemas.openxmlformats.org/officeDocument/2006/relationships/image" Target="../media/image14.png"/><Relationship Id="rId9" Type="http://schemas.openxmlformats.org/officeDocument/2006/relationships/image" Target="NULL"/><Relationship Id="rId1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jpeg"/><Relationship Id="rId12" Type="http://schemas.openxmlformats.org/officeDocument/2006/relationships/image" Target="../media/image31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jpeg"/><Relationship Id="rId11" Type="http://schemas.openxmlformats.org/officeDocument/2006/relationships/image" Target="../media/image30.jpe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组合 75">
            <a:extLst>
              <a:ext uri="{FF2B5EF4-FFF2-40B4-BE49-F238E27FC236}">
                <a16:creationId xmlns:a16="http://schemas.microsoft.com/office/drawing/2014/main" id="{8616A124-9C0D-4134-0964-F54BA3017AAE}"/>
              </a:ext>
            </a:extLst>
          </p:cNvPr>
          <p:cNvGrpSpPr/>
          <p:nvPr/>
        </p:nvGrpSpPr>
        <p:grpSpPr>
          <a:xfrm>
            <a:off x="3345593" y="1339143"/>
            <a:ext cx="4800180" cy="3247641"/>
            <a:chOff x="3345593" y="1339143"/>
            <a:chExt cx="4800180" cy="3247641"/>
          </a:xfrm>
        </p:grpSpPr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23FE5DFB-B8EB-93F5-8962-D1BA55125178}"/>
                </a:ext>
              </a:extLst>
            </p:cNvPr>
            <p:cNvCxnSpPr>
              <a:stCxn id="5" idx="0"/>
              <a:endCxn id="11" idx="0"/>
            </p:cNvCxnSpPr>
            <p:nvPr/>
          </p:nvCxnSpPr>
          <p:spPr>
            <a:xfrm flipV="1">
              <a:off x="3703621" y="2620908"/>
              <a:ext cx="2525090" cy="480571"/>
            </a:xfrm>
            <a:prstGeom prst="line">
              <a:avLst/>
            </a:prstGeom>
            <a:ln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EB0830C3-F9E0-C118-B2AB-A6035502CC17}"/>
                </a:ext>
              </a:extLst>
            </p:cNvPr>
            <p:cNvGrpSpPr/>
            <p:nvPr/>
          </p:nvGrpSpPr>
          <p:grpSpPr>
            <a:xfrm>
              <a:off x="4963428" y="1713577"/>
              <a:ext cx="3182345" cy="2352526"/>
              <a:chOff x="4963428" y="1713577"/>
              <a:chExt cx="3182345" cy="2352526"/>
            </a:xfrm>
          </p:grpSpPr>
          <p:grpSp>
            <p:nvGrpSpPr>
              <p:cNvPr id="17" name="组合 16">
                <a:extLst>
                  <a:ext uri="{FF2B5EF4-FFF2-40B4-BE49-F238E27FC236}">
                    <a16:creationId xmlns:a16="http://schemas.microsoft.com/office/drawing/2014/main" id="{DB0C9170-15C4-1492-F6DF-3B122D473D3C}"/>
                  </a:ext>
                </a:extLst>
              </p:cNvPr>
              <p:cNvGrpSpPr/>
              <p:nvPr/>
            </p:nvGrpSpPr>
            <p:grpSpPr>
              <a:xfrm>
                <a:off x="4963428" y="1713577"/>
                <a:ext cx="2759740" cy="2249260"/>
                <a:chOff x="282897" y="1263155"/>
                <a:chExt cx="6197275" cy="5050940"/>
              </a:xfrm>
            </p:grpSpPr>
            <p:pic>
              <p:nvPicPr>
                <p:cNvPr id="16" name="图片 15" descr="卡通画&#10;&#10;AI 生成的内容可能不正确。">
                  <a:extLst>
                    <a:ext uri="{FF2B5EF4-FFF2-40B4-BE49-F238E27FC236}">
                      <a16:creationId xmlns:a16="http://schemas.microsoft.com/office/drawing/2014/main" id="{86022DB9-6DED-B5D2-1121-00AB647CEC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2897" y="1615929"/>
                  <a:ext cx="6197275" cy="4698166"/>
                </a:xfrm>
                <a:prstGeom prst="rect">
                  <a:avLst/>
                </a:prstGeom>
              </p:spPr>
            </p:pic>
            <p:grpSp>
              <p:nvGrpSpPr>
                <p:cNvPr id="12" name="组合 11">
                  <a:extLst>
                    <a:ext uri="{FF2B5EF4-FFF2-40B4-BE49-F238E27FC236}">
                      <a16:creationId xmlns:a16="http://schemas.microsoft.com/office/drawing/2014/main" id="{EB87A534-3102-973C-C209-B1CF6D192317}"/>
                    </a:ext>
                  </a:extLst>
                </p:cNvPr>
                <p:cNvGrpSpPr/>
                <p:nvPr/>
              </p:nvGrpSpPr>
              <p:grpSpPr>
                <a:xfrm>
                  <a:off x="2896056" y="1263155"/>
                  <a:ext cx="3123284" cy="2879366"/>
                  <a:chOff x="2896056" y="1263155"/>
                  <a:chExt cx="3123284" cy="2879366"/>
                </a:xfrm>
              </p:grpSpPr>
              <p:sp>
                <p:nvSpPr>
                  <p:cNvPr id="9" name="箭头: 下 8">
                    <a:extLst>
                      <a:ext uri="{FF2B5EF4-FFF2-40B4-BE49-F238E27FC236}">
                        <a16:creationId xmlns:a16="http://schemas.microsoft.com/office/drawing/2014/main" id="{2ADDC513-1921-FFFC-4A8A-2001BAC80966}"/>
                      </a:ext>
                    </a:extLst>
                  </p:cNvPr>
                  <p:cNvSpPr/>
                  <p:nvPr/>
                </p:nvSpPr>
                <p:spPr>
                  <a:xfrm rot="10800000" flipH="1">
                    <a:off x="3087662" y="1263155"/>
                    <a:ext cx="147481" cy="2051050"/>
                  </a:xfrm>
                  <a:prstGeom prst="downArrow">
                    <a:avLst/>
                  </a:prstGeom>
                  <a:solidFill>
                    <a:schemeClr val="bg1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" name="箭头: 下 9">
                    <a:extLst>
                      <a:ext uri="{FF2B5EF4-FFF2-40B4-BE49-F238E27FC236}">
                        <a16:creationId xmlns:a16="http://schemas.microsoft.com/office/drawing/2014/main" id="{E150D65C-1E81-C4A0-A74B-CC6BEAF3C632}"/>
                      </a:ext>
                    </a:extLst>
                  </p:cNvPr>
                  <p:cNvSpPr/>
                  <p:nvPr/>
                </p:nvSpPr>
                <p:spPr>
                  <a:xfrm rot="14167777" flipH="1">
                    <a:off x="4193585" y="1173771"/>
                    <a:ext cx="147482" cy="2742540"/>
                  </a:xfrm>
                  <a:prstGeom prst="downArrow">
                    <a:avLst/>
                  </a:prstGeom>
                  <a:solidFill>
                    <a:schemeClr val="bg1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" name="箭头: 下 10">
                    <a:extLst>
                      <a:ext uri="{FF2B5EF4-FFF2-40B4-BE49-F238E27FC236}">
                        <a16:creationId xmlns:a16="http://schemas.microsoft.com/office/drawing/2014/main" id="{0513333D-FCC7-99EF-9EB1-B53423B0A0CF}"/>
                      </a:ext>
                    </a:extLst>
                  </p:cNvPr>
                  <p:cNvSpPr/>
                  <p:nvPr/>
                </p:nvSpPr>
                <p:spPr>
                  <a:xfrm rot="17983093" flipH="1">
                    <a:off x="4396141" y="2519322"/>
                    <a:ext cx="147481" cy="3098917"/>
                  </a:xfrm>
                  <a:prstGeom prst="downArrow">
                    <a:avLst/>
                  </a:prstGeom>
                  <a:solidFill>
                    <a:schemeClr val="bg1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</p:grp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919D7C1-97CE-02BF-A69E-40576032956E}"/>
                  </a:ext>
                </a:extLst>
              </p:cNvPr>
              <p:cNvSpPr txBox="1"/>
              <p:nvPr/>
            </p:nvSpPr>
            <p:spPr>
              <a:xfrm>
                <a:off x="6324890" y="3758326"/>
                <a:ext cx="182088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Body-fixed</a:t>
                </a:r>
                <a:endParaRPr lang="zh-CN" altLang="en-US" sz="1400" b="1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</p:grpSp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9E8B82EB-B68C-F1D4-DDF4-E28B0AFA2833}"/>
                </a:ext>
              </a:extLst>
            </p:cNvPr>
            <p:cNvGrpSpPr/>
            <p:nvPr/>
          </p:nvGrpSpPr>
          <p:grpSpPr>
            <a:xfrm>
              <a:off x="3345593" y="1339143"/>
              <a:ext cx="3132718" cy="3247641"/>
              <a:chOff x="3028334" y="1598687"/>
              <a:chExt cx="3132718" cy="3247641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F599C3C3-5E12-5D56-2F1B-4190B85B09C8}"/>
                  </a:ext>
                </a:extLst>
              </p:cNvPr>
              <p:cNvGrpSpPr/>
              <p:nvPr/>
            </p:nvGrpSpPr>
            <p:grpSpPr>
              <a:xfrm>
                <a:off x="3028334" y="1851757"/>
                <a:ext cx="2955600" cy="2454973"/>
                <a:chOff x="3028334" y="1851757"/>
                <a:chExt cx="2955600" cy="2454973"/>
              </a:xfrm>
            </p:grpSpPr>
            <p:grpSp>
              <p:nvGrpSpPr>
                <p:cNvPr id="6" name="组合 5">
                  <a:extLst>
                    <a:ext uri="{FF2B5EF4-FFF2-40B4-BE49-F238E27FC236}">
                      <a16:creationId xmlns:a16="http://schemas.microsoft.com/office/drawing/2014/main" id="{71C84945-E2B9-CFD7-3FB5-E469F3E03DB1}"/>
                    </a:ext>
                  </a:extLst>
                </p:cNvPr>
                <p:cNvGrpSpPr/>
                <p:nvPr/>
              </p:nvGrpSpPr>
              <p:grpSpPr>
                <a:xfrm>
                  <a:off x="3203513" y="1851757"/>
                  <a:ext cx="2780421" cy="2244085"/>
                  <a:chOff x="1832078" y="2323644"/>
                  <a:chExt cx="2780421" cy="2244085"/>
                </a:xfrm>
              </p:grpSpPr>
              <p:sp>
                <p:nvSpPr>
                  <p:cNvPr id="3" name="箭头: 下 2">
                    <a:extLst>
                      <a:ext uri="{FF2B5EF4-FFF2-40B4-BE49-F238E27FC236}">
                        <a16:creationId xmlns:a16="http://schemas.microsoft.com/office/drawing/2014/main" id="{0A010165-40BE-99AF-CF17-1779660D3236}"/>
                      </a:ext>
                    </a:extLst>
                  </p:cNvPr>
                  <p:cNvSpPr/>
                  <p:nvPr/>
                </p:nvSpPr>
                <p:spPr>
                  <a:xfrm rot="10800000" flipH="1">
                    <a:off x="1992300" y="2323644"/>
                    <a:ext cx="91287" cy="1517650"/>
                  </a:xfrm>
                  <a:prstGeom prst="downArrow">
                    <a:avLst/>
                  </a:prstGeom>
                  <a:solidFill>
                    <a:schemeClr val="bg1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" name="箭头: 下 3">
                    <a:extLst>
                      <a:ext uri="{FF2B5EF4-FFF2-40B4-BE49-F238E27FC236}">
                        <a16:creationId xmlns:a16="http://schemas.microsoft.com/office/drawing/2014/main" id="{B835EC03-7900-F1D2-D267-182F88A4D16B}"/>
                      </a:ext>
                    </a:extLst>
                  </p:cNvPr>
                  <p:cNvSpPr/>
                  <p:nvPr/>
                </p:nvSpPr>
                <p:spPr>
                  <a:xfrm rot="14167777" flipH="1">
                    <a:off x="2697209" y="2478215"/>
                    <a:ext cx="91287" cy="1746629"/>
                  </a:xfrm>
                  <a:prstGeom prst="downArrow">
                    <a:avLst/>
                  </a:prstGeom>
                  <a:solidFill>
                    <a:schemeClr val="bg1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" name="箭头: 下 4">
                    <a:extLst>
                      <a:ext uri="{FF2B5EF4-FFF2-40B4-BE49-F238E27FC236}">
                        <a16:creationId xmlns:a16="http://schemas.microsoft.com/office/drawing/2014/main" id="{9E40753C-350D-F0D5-CAA1-2F846C6CD03E}"/>
                      </a:ext>
                    </a:extLst>
                  </p:cNvPr>
                  <p:cNvSpPr/>
                  <p:nvPr/>
                </p:nvSpPr>
                <p:spPr>
                  <a:xfrm rot="17983093" flipH="1">
                    <a:off x="3176645" y="3131875"/>
                    <a:ext cx="91287" cy="2780421"/>
                  </a:xfrm>
                  <a:prstGeom prst="downArrow">
                    <a:avLst/>
                  </a:prstGeom>
                  <a:solidFill>
                    <a:schemeClr val="bg1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76DD78C6-EBD2-C58F-BE47-AA83ECDA98D2}"/>
                    </a:ext>
                  </a:extLst>
                </p:cNvPr>
                <p:cNvSpPr txBox="1"/>
                <p:nvPr/>
              </p:nvSpPr>
              <p:spPr>
                <a:xfrm>
                  <a:off x="3028334" y="3998953"/>
                  <a:ext cx="182088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400" b="1" dirty="0">
                      <a:latin typeface="Microsoft YaHei UI" panose="020B0503020204020204" pitchFamily="34" charset="-122"/>
                      <a:ea typeface="Microsoft YaHei UI" panose="020B0503020204020204" pitchFamily="34" charset="-122"/>
                    </a:rPr>
                    <a:t>Earth-fixed</a:t>
                  </a:r>
                  <a:endParaRPr lang="zh-CN" altLang="en-US" sz="1400" b="1" dirty="0">
                    <a:latin typeface="Microsoft YaHei UI" panose="020B0503020204020204" pitchFamily="34" charset="-122"/>
                    <a:ea typeface="Microsoft YaHei UI" panose="020B0503020204020204" pitchFamily="34" charset="-122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文本框 14">
                    <a:extLst>
                      <a:ext uri="{FF2B5EF4-FFF2-40B4-BE49-F238E27FC236}">
                        <a16:creationId xmlns:a16="http://schemas.microsoft.com/office/drawing/2014/main" id="{79B9C97F-EFB1-92E3-84E0-BDB671FF7DF7}"/>
                      </a:ext>
                    </a:extLst>
                  </p:cNvPr>
                  <p:cNvSpPr txBox="1"/>
                  <p:nvPr/>
                </p:nvSpPr>
                <p:spPr>
                  <a:xfrm>
                    <a:off x="5783448" y="4476996"/>
                    <a:ext cx="37760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altLang="zh-CN" b="0" dirty="0"/>
                  </a:p>
                </p:txBody>
              </p:sp>
            </mc:Choice>
            <mc:Fallback xmlns="">
              <p:sp>
                <p:nvSpPr>
                  <p:cNvPr id="15" name="文本框 14">
                    <a:extLst>
                      <a:ext uri="{FF2B5EF4-FFF2-40B4-BE49-F238E27FC236}">
                        <a16:creationId xmlns:a16="http://schemas.microsoft.com/office/drawing/2014/main" id="{79B9C97F-EFB1-92E3-84E0-BDB671FF7DF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83448" y="4476996"/>
                    <a:ext cx="377604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文本框 17">
                    <a:extLst>
                      <a:ext uri="{FF2B5EF4-FFF2-40B4-BE49-F238E27FC236}">
                        <a16:creationId xmlns:a16="http://schemas.microsoft.com/office/drawing/2014/main" id="{F3F1A331-BDAA-29DE-2EAE-2EDC62110F23}"/>
                      </a:ext>
                    </a:extLst>
                  </p:cNvPr>
                  <p:cNvSpPr txBox="1"/>
                  <p:nvPr/>
                </p:nvSpPr>
                <p:spPr>
                  <a:xfrm>
                    <a:off x="4806778" y="2122596"/>
                    <a:ext cx="38100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18" name="文本框 17">
                    <a:extLst>
                      <a:ext uri="{FF2B5EF4-FFF2-40B4-BE49-F238E27FC236}">
                        <a16:creationId xmlns:a16="http://schemas.microsoft.com/office/drawing/2014/main" id="{F3F1A331-BDAA-29DE-2EAE-2EDC62110F2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06778" y="2122596"/>
                    <a:ext cx="381002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文本框 20">
                    <a:extLst>
                      <a:ext uri="{FF2B5EF4-FFF2-40B4-BE49-F238E27FC236}">
                        <a16:creationId xmlns:a16="http://schemas.microsoft.com/office/drawing/2014/main" id="{DE3EE33D-936D-A880-544E-F0B53C841C26}"/>
                      </a:ext>
                    </a:extLst>
                  </p:cNvPr>
                  <p:cNvSpPr txBox="1"/>
                  <p:nvPr/>
                </p:nvSpPr>
                <p:spPr>
                  <a:xfrm>
                    <a:off x="3409378" y="1598687"/>
                    <a:ext cx="36336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1" name="文本框 20">
                    <a:extLst>
                      <a:ext uri="{FF2B5EF4-FFF2-40B4-BE49-F238E27FC236}">
                        <a16:creationId xmlns:a16="http://schemas.microsoft.com/office/drawing/2014/main" id="{DE3EE33D-936D-A880-544E-F0B53C841C2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09378" y="1598687"/>
                    <a:ext cx="363368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8FB7DF37-32B1-FF86-60F9-E39AE16F581A}"/>
                    </a:ext>
                  </a:extLst>
                </p:cNvPr>
                <p:cNvSpPr txBox="1"/>
                <p:nvPr/>
              </p:nvSpPr>
              <p:spPr>
                <a:xfrm>
                  <a:off x="7423312" y="3084267"/>
                  <a:ext cx="34150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en-US" altLang="zh-CN" sz="1400" b="0" dirty="0"/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8FB7DF37-32B1-FF86-60F9-E39AE16F58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3312" y="3084267"/>
                  <a:ext cx="341504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52944721-0F68-A19B-0C58-3A04525FC6D2}"/>
                    </a:ext>
                  </a:extLst>
                </p:cNvPr>
                <p:cNvSpPr txBox="1"/>
                <p:nvPr/>
              </p:nvSpPr>
              <p:spPr>
                <a:xfrm>
                  <a:off x="7213557" y="1737137"/>
                  <a:ext cx="33740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altLang="zh-CN" sz="1400" b="0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52944721-0F68-A19B-0C58-3A04525FC6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3557" y="1737137"/>
                  <a:ext cx="337400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B28A00C6-E4C2-CA8C-64B5-C62207A11040}"/>
                    </a:ext>
                  </a:extLst>
                </p:cNvPr>
                <p:cNvSpPr txBox="1"/>
                <p:nvPr/>
              </p:nvSpPr>
              <p:spPr>
                <a:xfrm>
                  <a:off x="5952224" y="1453347"/>
                  <a:ext cx="37266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US" altLang="zh-CN" sz="1400" b="0" dirty="0"/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B28A00C6-E4C2-CA8C-64B5-C62207A110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52224" y="1453347"/>
                  <a:ext cx="372666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连接符: 曲线 31">
              <a:extLst>
                <a:ext uri="{FF2B5EF4-FFF2-40B4-BE49-F238E27FC236}">
                  <a16:creationId xmlns:a16="http://schemas.microsoft.com/office/drawing/2014/main" id="{F0915C07-72F0-128E-EF2A-5AB20008100F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7154860" y="3153224"/>
              <a:ext cx="173350" cy="237297"/>
            </a:xfrm>
            <a:prstGeom prst="curvedConnector3">
              <a:avLst>
                <a:gd name="adj1" fmla="val -103788"/>
              </a:avLst>
            </a:prstGeom>
            <a:ln>
              <a:solidFill>
                <a:schemeClr val="bg2">
                  <a:lumMod val="1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CE89A120-EA52-0891-7D2B-85A308A6A035}"/>
                    </a:ext>
                  </a:extLst>
                </p:cNvPr>
                <p:cNvSpPr txBox="1"/>
                <p:nvPr/>
              </p:nvSpPr>
              <p:spPr>
                <a:xfrm>
                  <a:off x="6730781" y="3302483"/>
                  <a:ext cx="78245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𝑟𝑜𝑙𝑙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altLang="zh-CN" sz="1400" b="0" dirty="0"/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CE89A120-EA52-0891-7D2B-85A308A6A0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0781" y="3302483"/>
                  <a:ext cx="782458" cy="307777"/>
                </a:xfrm>
                <a:prstGeom prst="rect">
                  <a:avLst/>
                </a:prstGeom>
                <a:blipFill>
                  <a:blip r:embed="rId9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" name="连接符: 曲线 46">
              <a:extLst>
                <a:ext uri="{FF2B5EF4-FFF2-40B4-BE49-F238E27FC236}">
                  <a16:creationId xmlns:a16="http://schemas.microsoft.com/office/drawing/2014/main" id="{777340C7-A2FC-3C36-6326-8AFC0E6019C8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6970443" y="2053142"/>
              <a:ext cx="108886" cy="259015"/>
            </a:xfrm>
            <a:prstGeom prst="curvedConnector3">
              <a:avLst>
                <a:gd name="adj1" fmla="val -209944"/>
              </a:avLst>
            </a:prstGeom>
            <a:ln>
              <a:solidFill>
                <a:schemeClr val="bg2">
                  <a:lumMod val="1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连接符: 曲线 57">
              <a:extLst>
                <a:ext uri="{FF2B5EF4-FFF2-40B4-BE49-F238E27FC236}">
                  <a16:creationId xmlns:a16="http://schemas.microsoft.com/office/drawing/2014/main" id="{19C03C8F-8500-9D15-5C16-649EB7F6CEC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6235634" y="1688923"/>
              <a:ext cx="7784" cy="287781"/>
            </a:xfrm>
            <a:prstGeom prst="curvedConnector3">
              <a:avLst>
                <a:gd name="adj1" fmla="val 1876285"/>
              </a:avLst>
            </a:prstGeom>
            <a:ln>
              <a:solidFill>
                <a:schemeClr val="bg2">
                  <a:lumMod val="1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1F4A8FFB-4ACE-CA06-49E9-13447D16726C}"/>
                    </a:ext>
                  </a:extLst>
                </p:cNvPr>
                <p:cNvSpPr txBox="1"/>
                <p:nvPr/>
              </p:nvSpPr>
              <p:spPr>
                <a:xfrm>
                  <a:off x="7103302" y="2032900"/>
                  <a:ext cx="895309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𝑝𝑖𝑡𝑐h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altLang="zh-CN" sz="1600" b="0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1F4A8FFB-4ACE-CA06-49E9-13447D1672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3302" y="2032900"/>
                  <a:ext cx="895309" cy="307777"/>
                </a:xfrm>
                <a:prstGeom prst="rect">
                  <a:avLst/>
                </a:prstGeom>
                <a:blipFill>
                  <a:blip r:embed="rId10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379B1339-F699-0DF0-4DC2-46740C8D552A}"/>
                    </a:ext>
                  </a:extLst>
                </p:cNvPr>
                <p:cNvSpPr txBox="1"/>
                <p:nvPr/>
              </p:nvSpPr>
              <p:spPr>
                <a:xfrm>
                  <a:off x="6254412" y="1612318"/>
                  <a:ext cx="8094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𝑦𝑎𝑤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altLang="zh-CN" sz="1400" b="0" dirty="0"/>
                </a:p>
              </p:txBody>
            </p:sp>
          </mc:Choice>
          <mc:Fallback xmlns="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379B1339-F699-0DF0-4DC2-46740C8D55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4412" y="1612318"/>
                  <a:ext cx="809452" cy="307777"/>
                </a:xfrm>
                <a:prstGeom prst="rect">
                  <a:avLst/>
                </a:prstGeom>
                <a:blipFill>
                  <a:blip r:embed="rId11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9FD0487D-373D-B5D0-D1F4-D38A04674B50}"/>
              </a:ext>
            </a:extLst>
          </p:cNvPr>
          <p:cNvSpPr txBox="1"/>
          <p:nvPr/>
        </p:nvSpPr>
        <p:spPr>
          <a:xfrm>
            <a:off x="59376" y="51460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坐标系</a:t>
            </a:r>
          </a:p>
        </p:txBody>
      </p:sp>
    </p:spTree>
    <p:extLst>
      <p:ext uri="{BB962C8B-B14F-4D97-AF65-F5344CB8AC3E}">
        <p14:creationId xmlns:p14="http://schemas.microsoft.com/office/powerpoint/2010/main" val="1392094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9FD0487D-373D-B5D0-D1F4-D38A04674B50}"/>
              </a:ext>
            </a:extLst>
          </p:cNvPr>
          <p:cNvSpPr txBox="1"/>
          <p:nvPr/>
        </p:nvSpPr>
        <p:spPr>
          <a:xfrm>
            <a:off x="59376" y="51460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研究流程结构图</a:t>
            </a:r>
            <a:endParaRPr lang="en-US" altLang="zh-CN" sz="3200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grpSp>
        <p:nvGrpSpPr>
          <p:cNvPr id="139" name="组合 138">
            <a:extLst>
              <a:ext uri="{FF2B5EF4-FFF2-40B4-BE49-F238E27FC236}">
                <a16:creationId xmlns:a16="http://schemas.microsoft.com/office/drawing/2014/main" id="{0511E033-8A52-13BE-E115-34D0A8CB4294}"/>
              </a:ext>
            </a:extLst>
          </p:cNvPr>
          <p:cNvGrpSpPr/>
          <p:nvPr/>
        </p:nvGrpSpPr>
        <p:grpSpPr>
          <a:xfrm>
            <a:off x="-524905" y="1035313"/>
            <a:ext cx="12916538" cy="5558569"/>
            <a:chOff x="814945" y="959113"/>
            <a:chExt cx="12916538" cy="5558569"/>
          </a:xfrm>
        </p:grpSpPr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6A104372-7034-22FE-DA9F-0238C2EB69B0}"/>
                </a:ext>
              </a:extLst>
            </p:cNvPr>
            <p:cNvSpPr/>
            <p:nvPr/>
          </p:nvSpPr>
          <p:spPr>
            <a:xfrm>
              <a:off x="6433739" y="4816933"/>
              <a:ext cx="287101" cy="21460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14" name="组合 113">
              <a:extLst>
                <a:ext uri="{FF2B5EF4-FFF2-40B4-BE49-F238E27FC236}">
                  <a16:creationId xmlns:a16="http://schemas.microsoft.com/office/drawing/2014/main" id="{1D89FEBB-1758-3DDA-0E59-32ADA0FA0544}"/>
                </a:ext>
              </a:extLst>
            </p:cNvPr>
            <p:cNvGrpSpPr/>
            <p:nvPr/>
          </p:nvGrpSpPr>
          <p:grpSpPr>
            <a:xfrm>
              <a:off x="8756777" y="959114"/>
              <a:ext cx="2329489" cy="4255107"/>
              <a:chOff x="8973327" y="1039620"/>
              <a:chExt cx="2329489" cy="4255107"/>
            </a:xfrm>
          </p:grpSpPr>
          <p:sp>
            <p:nvSpPr>
              <p:cNvPr id="29" name="矩形: 圆角 28">
                <a:extLst>
                  <a:ext uri="{FF2B5EF4-FFF2-40B4-BE49-F238E27FC236}">
                    <a16:creationId xmlns:a16="http://schemas.microsoft.com/office/drawing/2014/main" id="{0743FB2C-9735-703E-2D39-B05C73C1395C}"/>
                  </a:ext>
                </a:extLst>
              </p:cNvPr>
              <p:cNvSpPr/>
              <p:nvPr/>
            </p:nvSpPr>
            <p:spPr>
              <a:xfrm>
                <a:off x="9045872" y="1121416"/>
                <a:ext cx="2184400" cy="708561"/>
              </a:xfrm>
              <a:prstGeom prst="roundRect">
                <a:avLst>
                  <a:gd name="adj" fmla="val 7728"/>
                </a:avLst>
              </a:prstGeom>
              <a:solidFill>
                <a:srgbClr val="DAD4B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effectLst/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嵌入式软件框架与硬件系统开发</a:t>
                </a:r>
              </a:p>
            </p:txBody>
          </p:sp>
          <p:sp>
            <p:nvSpPr>
              <p:cNvPr id="108" name="矩形: 圆角 107">
                <a:extLst>
                  <a:ext uri="{FF2B5EF4-FFF2-40B4-BE49-F238E27FC236}">
                    <a16:creationId xmlns:a16="http://schemas.microsoft.com/office/drawing/2014/main" id="{0762A3D7-7D2E-FA51-5F80-7A36A0667F34}"/>
                  </a:ext>
                </a:extLst>
              </p:cNvPr>
              <p:cNvSpPr/>
              <p:nvPr/>
            </p:nvSpPr>
            <p:spPr>
              <a:xfrm>
                <a:off x="8973327" y="1039620"/>
                <a:ext cx="2329489" cy="4255107"/>
              </a:xfrm>
              <a:prstGeom prst="roundRect">
                <a:avLst>
                  <a:gd name="adj" fmla="val 4922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" name="矩形: 圆角 108">
                <a:extLst>
                  <a:ext uri="{FF2B5EF4-FFF2-40B4-BE49-F238E27FC236}">
                    <a16:creationId xmlns:a16="http://schemas.microsoft.com/office/drawing/2014/main" id="{4B29C5FF-A0A2-6E5A-70E2-E584EC4E00E3}"/>
                  </a:ext>
                </a:extLst>
              </p:cNvPr>
              <p:cNvSpPr/>
              <p:nvPr/>
            </p:nvSpPr>
            <p:spPr>
              <a:xfrm>
                <a:off x="9198017" y="2262403"/>
                <a:ext cx="1860749" cy="586499"/>
              </a:xfrm>
              <a:prstGeom prst="roundRect">
                <a:avLst>
                  <a:gd name="adj" fmla="val 7728"/>
                </a:avLst>
              </a:prstGeom>
              <a:solidFill>
                <a:srgbClr val="DAD4B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外设</a:t>
                </a:r>
                <a:r>
                  <a:rPr lang="zh-CN" altLang="en-US" b="1" dirty="0">
                    <a:solidFill>
                      <a:schemeClr val="bg1"/>
                    </a:solidFill>
                    <a:effectLst/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调度机制</a:t>
                </a:r>
                <a:endParaRPr lang="en-US" altLang="zh-CN" b="1" dirty="0">
                  <a:solidFill>
                    <a:schemeClr val="bg1"/>
                  </a:solidFill>
                  <a:effectLst/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  <p:sp>
            <p:nvSpPr>
              <p:cNvPr id="110" name="矩形: 圆角 109">
                <a:extLst>
                  <a:ext uri="{FF2B5EF4-FFF2-40B4-BE49-F238E27FC236}">
                    <a16:creationId xmlns:a16="http://schemas.microsoft.com/office/drawing/2014/main" id="{6CA845A8-0C29-9AF7-025F-9DC7673BF11E}"/>
                  </a:ext>
                </a:extLst>
              </p:cNvPr>
              <p:cNvSpPr/>
              <p:nvPr/>
            </p:nvSpPr>
            <p:spPr>
              <a:xfrm>
                <a:off x="9207696" y="3025711"/>
                <a:ext cx="1860749" cy="586499"/>
              </a:xfrm>
              <a:prstGeom prst="roundRect">
                <a:avLst>
                  <a:gd name="adj" fmla="val 7728"/>
                </a:avLst>
              </a:prstGeom>
              <a:solidFill>
                <a:srgbClr val="DAD4B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电调数字通信</a:t>
                </a:r>
                <a:endParaRPr lang="en-US" altLang="zh-CN" b="1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effectLst/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转速回传</a:t>
                </a:r>
                <a:endParaRPr lang="en-US" altLang="zh-CN" b="1" dirty="0">
                  <a:solidFill>
                    <a:schemeClr val="bg1"/>
                  </a:solidFill>
                  <a:effectLst/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  <p:sp>
            <p:nvSpPr>
              <p:cNvPr id="111" name="矩形: 圆角 110">
                <a:extLst>
                  <a:ext uri="{FF2B5EF4-FFF2-40B4-BE49-F238E27FC236}">
                    <a16:creationId xmlns:a16="http://schemas.microsoft.com/office/drawing/2014/main" id="{237A7B41-8145-9566-59CF-9C529A9A0E4C}"/>
                  </a:ext>
                </a:extLst>
              </p:cNvPr>
              <p:cNvSpPr/>
              <p:nvPr/>
            </p:nvSpPr>
            <p:spPr>
              <a:xfrm>
                <a:off x="9207696" y="3794700"/>
                <a:ext cx="1860749" cy="586499"/>
              </a:xfrm>
              <a:prstGeom prst="roundRect">
                <a:avLst>
                  <a:gd name="adj" fmla="val 7728"/>
                </a:avLst>
              </a:prstGeom>
              <a:solidFill>
                <a:srgbClr val="DAD4B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effectLst/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电源监控与保护系统设计</a:t>
                </a:r>
                <a:endParaRPr lang="en-US" altLang="zh-CN" b="1" dirty="0">
                  <a:solidFill>
                    <a:schemeClr val="bg1"/>
                  </a:solidFill>
                  <a:effectLst/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  <p:sp>
            <p:nvSpPr>
              <p:cNvPr id="112" name="矩形: 圆角 111">
                <a:extLst>
                  <a:ext uri="{FF2B5EF4-FFF2-40B4-BE49-F238E27FC236}">
                    <a16:creationId xmlns:a16="http://schemas.microsoft.com/office/drawing/2014/main" id="{3110A580-8122-7E7D-9B7F-82B5BB1D9FE9}"/>
                  </a:ext>
                </a:extLst>
              </p:cNvPr>
              <p:cNvSpPr/>
              <p:nvPr/>
            </p:nvSpPr>
            <p:spPr>
              <a:xfrm>
                <a:off x="9198017" y="4563690"/>
                <a:ext cx="1870428" cy="586499"/>
              </a:xfrm>
              <a:prstGeom prst="roundRect">
                <a:avLst>
                  <a:gd name="adj" fmla="val 7728"/>
                </a:avLst>
              </a:prstGeom>
              <a:solidFill>
                <a:srgbClr val="DAD4B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地面站</a:t>
                </a:r>
                <a:r>
                  <a:rPr lang="en-US" altLang="zh-CN" b="1" dirty="0">
                    <a:solidFill>
                      <a:schemeClr val="bg1"/>
                    </a:solidFill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-ROV</a:t>
                </a:r>
              </a:p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通信链路设计</a:t>
                </a:r>
                <a:endParaRPr lang="en-US" altLang="zh-CN" b="1" dirty="0">
                  <a:solidFill>
                    <a:schemeClr val="bg1"/>
                  </a:solidFill>
                  <a:effectLst/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</p:grpSp>
        <p:grpSp>
          <p:nvGrpSpPr>
            <p:cNvPr id="115" name="组合 114">
              <a:extLst>
                <a:ext uri="{FF2B5EF4-FFF2-40B4-BE49-F238E27FC236}">
                  <a16:creationId xmlns:a16="http://schemas.microsoft.com/office/drawing/2014/main" id="{AAED5466-1B13-5A90-0DE6-F5B4BF9AD777}"/>
                </a:ext>
              </a:extLst>
            </p:cNvPr>
            <p:cNvGrpSpPr/>
            <p:nvPr/>
          </p:nvGrpSpPr>
          <p:grpSpPr>
            <a:xfrm>
              <a:off x="11401994" y="959113"/>
              <a:ext cx="2329489" cy="4255107"/>
              <a:chOff x="8973327" y="1039620"/>
              <a:chExt cx="2329489" cy="4255107"/>
            </a:xfrm>
          </p:grpSpPr>
          <p:sp>
            <p:nvSpPr>
              <p:cNvPr id="116" name="矩形: 圆角 115">
                <a:extLst>
                  <a:ext uri="{FF2B5EF4-FFF2-40B4-BE49-F238E27FC236}">
                    <a16:creationId xmlns:a16="http://schemas.microsoft.com/office/drawing/2014/main" id="{3610C3E1-63AC-8811-884B-CFD8926934DE}"/>
                  </a:ext>
                </a:extLst>
              </p:cNvPr>
              <p:cNvSpPr/>
              <p:nvPr/>
            </p:nvSpPr>
            <p:spPr>
              <a:xfrm>
                <a:off x="9045872" y="1121416"/>
                <a:ext cx="2184400" cy="708561"/>
              </a:xfrm>
              <a:prstGeom prst="roundRect">
                <a:avLst>
                  <a:gd name="adj" fmla="val 7728"/>
                </a:avLst>
              </a:prstGeom>
              <a:solidFill>
                <a:srgbClr val="D8B368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仿真平台测试</a:t>
                </a:r>
                <a:endParaRPr lang="en-US" altLang="zh-CN" b="1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effectLst/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与实机</a:t>
                </a:r>
                <a:r>
                  <a:rPr lang="zh-CN" altLang="en-US" b="1" dirty="0">
                    <a:solidFill>
                      <a:schemeClr val="bg1"/>
                    </a:solidFill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实验</a:t>
                </a:r>
                <a:endParaRPr lang="zh-CN" altLang="en-US" b="1" dirty="0">
                  <a:solidFill>
                    <a:schemeClr val="bg1"/>
                  </a:solidFill>
                  <a:effectLst/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  <p:sp>
            <p:nvSpPr>
              <p:cNvPr id="117" name="矩形: 圆角 116">
                <a:extLst>
                  <a:ext uri="{FF2B5EF4-FFF2-40B4-BE49-F238E27FC236}">
                    <a16:creationId xmlns:a16="http://schemas.microsoft.com/office/drawing/2014/main" id="{CA6B0BAC-1580-DAEB-2A03-5FB0491CEE0B}"/>
                  </a:ext>
                </a:extLst>
              </p:cNvPr>
              <p:cNvSpPr/>
              <p:nvPr/>
            </p:nvSpPr>
            <p:spPr>
              <a:xfrm>
                <a:off x="8973327" y="1039620"/>
                <a:ext cx="2329489" cy="4255107"/>
              </a:xfrm>
              <a:prstGeom prst="roundRect">
                <a:avLst>
                  <a:gd name="adj" fmla="val 4922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8" name="矩形: 圆角 117">
                <a:extLst>
                  <a:ext uri="{FF2B5EF4-FFF2-40B4-BE49-F238E27FC236}">
                    <a16:creationId xmlns:a16="http://schemas.microsoft.com/office/drawing/2014/main" id="{5B31F439-AEF5-22B4-F76F-AA63045F8C33}"/>
                  </a:ext>
                </a:extLst>
              </p:cNvPr>
              <p:cNvSpPr/>
              <p:nvPr/>
            </p:nvSpPr>
            <p:spPr>
              <a:xfrm>
                <a:off x="9198017" y="2262403"/>
                <a:ext cx="1860749" cy="586499"/>
              </a:xfrm>
              <a:prstGeom prst="roundRect">
                <a:avLst>
                  <a:gd name="adj" fmla="val 7728"/>
                </a:avLst>
              </a:prstGeom>
              <a:solidFill>
                <a:srgbClr val="D8B368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effectLst/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附加质量与</a:t>
                </a:r>
                <a:endParaRPr lang="en-US" altLang="zh-CN" b="1" dirty="0">
                  <a:solidFill>
                    <a:schemeClr val="bg1"/>
                  </a:solidFill>
                  <a:effectLst/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effectLst/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阻尼参数辨识</a:t>
                </a:r>
                <a:endParaRPr lang="en-US" altLang="zh-CN" b="1" dirty="0">
                  <a:solidFill>
                    <a:schemeClr val="bg1"/>
                  </a:solidFill>
                  <a:effectLst/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  <p:sp>
            <p:nvSpPr>
              <p:cNvPr id="119" name="矩形: 圆角 118">
                <a:extLst>
                  <a:ext uri="{FF2B5EF4-FFF2-40B4-BE49-F238E27FC236}">
                    <a16:creationId xmlns:a16="http://schemas.microsoft.com/office/drawing/2014/main" id="{7FC83D8F-E675-88EB-CF19-FA32D203470C}"/>
                  </a:ext>
                </a:extLst>
              </p:cNvPr>
              <p:cNvSpPr/>
              <p:nvPr/>
            </p:nvSpPr>
            <p:spPr>
              <a:xfrm>
                <a:off x="9207696" y="3025711"/>
                <a:ext cx="1860749" cy="586499"/>
              </a:xfrm>
              <a:prstGeom prst="roundRect">
                <a:avLst>
                  <a:gd name="adj" fmla="val 7728"/>
                </a:avLst>
              </a:prstGeom>
              <a:solidFill>
                <a:srgbClr val="D8B368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电机推力</a:t>
                </a:r>
                <a:r>
                  <a:rPr lang="en-US" altLang="zh-CN" b="1" dirty="0">
                    <a:solidFill>
                      <a:schemeClr val="bg1"/>
                    </a:solidFill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-</a:t>
                </a:r>
                <a:r>
                  <a:rPr lang="zh-CN" altLang="en-US" b="1" dirty="0">
                    <a:solidFill>
                      <a:schemeClr val="bg1"/>
                    </a:solidFill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转速数据记录并拟合</a:t>
                </a:r>
                <a:endParaRPr lang="en-US" altLang="zh-CN" b="1" dirty="0">
                  <a:solidFill>
                    <a:schemeClr val="bg1"/>
                  </a:solidFill>
                  <a:effectLst/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  <p:sp>
            <p:nvSpPr>
              <p:cNvPr id="120" name="矩形: 圆角 119">
                <a:extLst>
                  <a:ext uri="{FF2B5EF4-FFF2-40B4-BE49-F238E27FC236}">
                    <a16:creationId xmlns:a16="http://schemas.microsoft.com/office/drawing/2014/main" id="{CC0FF747-5CF8-3B29-10B0-8D807B37E091}"/>
                  </a:ext>
                </a:extLst>
              </p:cNvPr>
              <p:cNvSpPr/>
              <p:nvPr/>
            </p:nvSpPr>
            <p:spPr>
              <a:xfrm>
                <a:off x="9207696" y="3794700"/>
                <a:ext cx="1860749" cy="586499"/>
              </a:xfrm>
              <a:prstGeom prst="roundRect">
                <a:avLst>
                  <a:gd name="adj" fmla="val 7728"/>
                </a:avLst>
              </a:prstGeom>
              <a:solidFill>
                <a:srgbClr val="D8B368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仿真测试算法</a:t>
                </a:r>
                <a:endParaRPr lang="en-US" altLang="zh-CN" b="1" dirty="0">
                  <a:solidFill>
                    <a:schemeClr val="bg1"/>
                  </a:solidFill>
                  <a:effectLst/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  <p:sp>
            <p:nvSpPr>
              <p:cNvPr id="121" name="矩形: 圆角 120">
                <a:extLst>
                  <a:ext uri="{FF2B5EF4-FFF2-40B4-BE49-F238E27FC236}">
                    <a16:creationId xmlns:a16="http://schemas.microsoft.com/office/drawing/2014/main" id="{17E4157F-422B-54D8-816C-2E05C5B51B67}"/>
                  </a:ext>
                </a:extLst>
              </p:cNvPr>
              <p:cNvSpPr/>
              <p:nvPr/>
            </p:nvSpPr>
            <p:spPr>
              <a:xfrm>
                <a:off x="9198017" y="4563690"/>
                <a:ext cx="1870428" cy="586499"/>
              </a:xfrm>
              <a:prstGeom prst="roundRect">
                <a:avLst>
                  <a:gd name="adj" fmla="val 7728"/>
                </a:avLst>
              </a:prstGeom>
              <a:solidFill>
                <a:srgbClr val="D8B368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实机测试算法</a:t>
                </a:r>
                <a:endParaRPr lang="en-US" altLang="zh-CN" b="1" dirty="0">
                  <a:solidFill>
                    <a:schemeClr val="bg1"/>
                  </a:solidFill>
                  <a:effectLst/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08E605C7-6797-A101-CCBC-400C82E04B71}"/>
                </a:ext>
              </a:extLst>
            </p:cNvPr>
            <p:cNvGrpSpPr/>
            <p:nvPr/>
          </p:nvGrpSpPr>
          <p:grpSpPr>
            <a:xfrm>
              <a:off x="814945" y="959115"/>
              <a:ext cx="7631007" cy="4939770"/>
              <a:chOff x="129145" y="744750"/>
              <a:chExt cx="7631007" cy="4939770"/>
            </a:xfrm>
          </p:grpSpPr>
          <p:sp>
            <p:nvSpPr>
              <p:cNvPr id="16" name="矩形: 圆角 15">
                <a:extLst>
                  <a:ext uri="{FF2B5EF4-FFF2-40B4-BE49-F238E27FC236}">
                    <a16:creationId xmlns:a16="http://schemas.microsoft.com/office/drawing/2014/main" id="{991714F1-A221-F84A-A377-ED2F07A37FDF}"/>
                  </a:ext>
                </a:extLst>
              </p:cNvPr>
              <p:cNvSpPr/>
              <p:nvPr/>
            </p:nvSpPr>
            <p:spPr>
              <a:xfrm>
                <a:off x="3168662" y="3372454"/>
                <a:ext cx="1905504" cy="2180124"/>
              </a:xfrm>
              <a:prstGeom prst="roundRect">
                <a:avLst>
                  <a:gd name="adj" fmla="val 2847"/>
                </a:avLst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64887F20-51BE-8DB5-15F6-5E7BEF079BAF}"/>
                  </a:ext>
                </a:extLst>
              </p:cNvPr>
              <p:cNvGrpSpPr/>
              <p:nvPr/>
            </p:nvGrpSpPr>
            <p:grpSpPr>
              <a:xfrm>
                <a:off x="129145" y="744750"/>
                <a:ext cx="7631007" cy="4939770"/>
                <a:chOff x="129145" y="744750"/>
                <a:chExt cx="7631007" cy="4939770"/>
              </a:xfrm>
            </p:grpSpPr>
            <p:grpSp>
              <p:nvGrpSpPr>
                <p:cNvPr id="42" name="组合 41">
                  <a:extLst>
                    <a:ext uri="{FF2B5EF4-FFF2-40B4-BE49-F238E27FC236}">
                      <a16:creationId xmlns:a16="http://schemas.microsoft.com/office/drawing/2014/main" id="{C7BC7010-5D10-14C2-91A9-4050CAB6C2F1}"/>
                    </a:ext>
                  </a:extLst>
                </p:cNvPr>
                <p:cNvGrpSpPr/>
                <p:nvPr/>
              </p:nvGrpSpPr>
              <p:grpSpPr>
                <a:xfrm>
                  <a:off x="129145" y="744750"/>
                  <a:ext cx="2329489" cy="2742854"/>
                  <a:chOff x="945432" y="922803"/>
                  <a:chExt cx="2329489" cy="2742854"/>
                </a:xfrm>
              </p:grpSpPr>
              <p:cxnSp>
                <p:nvCxnSpPr>
                  <p:cNvPr id="39" name="直接箭头连接符 38">
                    <a:extLst>
                      <a:ext uri="{FF2B5EF4-FFF2-40B4-BE49-F238E27FC236}">
                        <a16:creationId xmlns:a16="http://schemas.microsoft.com/office/drawing/2014/main" id="{D4DC8F36-A892-D9E0-74E5-6AFFE86A704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100583" y="2648545"/>
                    <a:ext cx="0" cy="364562"/>
                  </a:xfrm>
                  <a:prstGeom prst="straightConnector1">
                    <a:avLst/>
                  </a:prstGeom>
                  <a:ln w="38100">
                    <a:solidFill>
                      <a:schemeClr val="bg1">
                        <a:lumMod val="50000"/>
                      </a:schemeClr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直接箭头连接符 35">
                    <a:extLst>
                      <a:ext uri="{FF2B5EF4-FFF2-40B4-BE49-F238E27FC236}">
                        <a16:creationId xmlns:a16="http://schemas.microsoft.com/office/drawing/2014/main" id="{9888EB59-432B-8D29-8B50-D463050E6627}"/>
                      </a:ext>
                    </a:extLst>
                  </p:cNvPr>
                  <p:cNvCxnSpPr>
                    <a:cxnSpLocks/>
                    <a:stCxn id="26" idx="2"/>
                  </p:cNvCxnSpPr>
                  <p:nvPr/>
                </p:nvCxnSpPr>
                <p:spPr>
                  <a:xfrm>
                    <a:off x="2100583" y="1703421"/>
                    <a:ext cx="0" cy="364562"/>
                  </a:xfrm>
                  <a:prstGeom prst="straightConnector1">
                    <a:avLst/>
                  </a:prstGeom>
                  <a:ln w="38100">
                    <a:solidFill>
                      <a:schemeClr val="bg1">
                        <a:lumMod val="50000"/>
                      </a:schemeClr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6" name="矩形: 圆角 25">
                    <a:extLst>
                      <a:ext uri="{FF2B5EF4-FFF2-40B4-BE49-F238E27FC236}">
                        <a16:creationId xmlns:a16="http://schemas.microsoft.com/office/drawing/2014/main" id="{BC819D21-D298-13CD-D110-E262BFA437CF}"/>
                      </a:ext>
                    </a:extLst>
                  </p:cNvPr>
                  <p:cNvSpPr/>
                  <p:nvPr/>
                </p:nvSpPr>
                <p:spPr>
                  <a:xfrm>
                    <a:off x="1008383" y="994860"/>
                    <a:ext cx="2184400" cy="708561"/>
                  </a:xfrm>
                  <a:prstGeom prst="roundRect">
                    <a:avLst>
                      <a:gd name="adj" fmla="val 7728"/>
                    </a:avLst>
                  </a:prstGeom>
                  <a:solidFill>
                    <a:schemeClr val="accent1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CN" altLang="en-US" b="1" dirty="0">
                        <a:solidFill>
                          <a:schemeClr val="bg1"/>
                        </a:solidFill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rPr>
                      <a:t>动力学模型建立</a:t>
                    </a:r>
                  </a:p>
                </p:txBody>
              </p:sp>
              <p:sp>
                <p:nvSpPr>
                  <p:cNvPr id="33" name="矩形: 圆角 32">
                    <a:extLst>
                      <a:ext uri="{FF2B5EF4-FFF2-40B4-BE49-F238E27FC236}">
                        <a16:creationId xmlns:a16="http://schemas.microsoft.com/office/drawing/2014/main" id="{99A723AF-E815-8D06-8461-B9D955F653CE}"/>
                      </a:ext>
                    </a:extLst>
                  </p:cNvPr>
                  <p:cNvSpPr/>
                  <p:nvPr/>
                </p:nvSpPr>
                <p:spPr>
                  <a:xfrm>
                    <a:off x="1180302" y="2051236"/>
                    <a:ext cx="1840562" cy="586499"/>
                  </a:xfrm>
                  <a:prstGeom prst="roundRect">
                    <a:avLst>
                      <a:gd name="adj" fmla="val 7728"/>
                    </a:avLst>
                  </a:prstGeom>
                  <a:solidFill>
                    <a:srgbClr val="10486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CN" altLang="en-US" b="1" dirty="0">
                        <a:solidFill>
                          <a:schemeClr val="bg1"/>
                        </a:solidFill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rPr>
                      <a:t>坐标系建立</a:t>
                    </a:r>
                    <a:endParaRPr lang="en-US" altLang="zh-CN" b="1" dirty="0">
                      <a:solidFill>
                        <a:schemeClr val="bg1"/>
                      </a:solidFill>
                      <a:effectLst/>
                      <a:latin typeface="Microsoft YaHei UI" panose="020B0503020204020204" pitchFamily="34" charset="-122"/>
                      <a:ea typeface="Microsoft YaHei UI" panose="020B0503020204020204" pitchFamily="34" charset="-122"/>
                    </a:endParaRPr>
                  </a:p>
                </p:txBody>
              </p:sp>
              <p:sp>
                <p:nvSpPr>
                  <p:cNvPr id="40" name="矩形: 圆角 39">
                    <a:extLst>
                      <a:ext uri="{FF2B5EF4-FFF2-40B4-BE49-F238E27FC236}">
                        <a16:creationId xmlns:a16="http://schemas.microsoft.com/office/drawing/2014/main" id="{E374130A-60C9-C54C-42ED-611C29ACE2ED}"/>
                      </a:ext>
                    </a:extLst>
                  </p:cNvPr>
                  <p:cNvSpPr/>
                  <p:nvPr/>
                </p:nvSpPr>
                <p:spPr>
                  <a:xfrm>
                    <a:off x="1168725" y="3002538"/>
                    <a:ext cx="1840561" cy="586499"/>
                  </a:xfrm>
                  <a:prstGeom prst="roundRect">
                    <a:avLst>
                      <a:gd name="adj" fmla="val 7728"/>
                    </a:avLst>
                  </a:prstGeom>
                  <a:solidFill>
                    <a:srgbClr val="10486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CN" altLang="en-US" b="1" dirty="0">
                        <a:solidFill>
                          <a:schemeClr val="bg1"/>
                        </a:solidFill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rPr>
                      <a:t>完整动力学方程</a:t>
                    </a:r>
                    <a:endParaRPr lang="en-US" altLang="zh-CN" b="1" dirty="0">
                      <a:solidFill>
                        <a:schemeClr val="bg1"/>
                      </a:solidFill>
                      <a:effectLst/>
                      <a:latin typeface="Microsoft YaHei UI" panose="020B0503020204020204" pitchFamily="34" charset="-122"/>
                      <a:ea typeface="Microsoft YaHei UI" panose="020B0503020204020204" pitchFamily="34" charset="-122"/>
                    </a:endParaRPr>
                  </a:p>
                </p:txBody>
              </p:sp>
              <p:sp>
                <p:nvSpPr>
                  <p:cNvPr id="41" name="矩形: 圆角 40">
                    <a:extLst>
                      <a:ext uri="{FF2B5EF4-FFF2-40B4-BE49-F238E27FC236}">
                        <a16:creationId xmlns:a16="http://schemas.microsoft.com/office/drawing/2014/main" id="{DF2433FE-E347-62F9-3686-6CDC07147E32}"/>
                      </a:ext>
                    </a:extLst>
                  </p:cNvPr>
                  <p:cNvSpPr/>
                  <p:nvPr/>
                </p:nvSpPr>
                <p:spPr>
                  <a:xfrm>
                    <a:off x="945432" y="922803"/>
                    <a:ext cx="2329489" cy="2742854"/>
                  </a:xfrm>
                  <a:prstGeom prst="roundRect">
                    <a:avLst>
                      <a:gd name="adj" fmla="val 4922"/>
                    </a:avLst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77" name="组合 76">
                  <a:extLst>
                    <a:ext uri="{FF2B5EF4-FFF2-40B4-BE49-F238E27FC236}">
                      <a16:creationId xmlns:a16="http://schemas.microsoft.com/office/drawing/2014/main" id="{FB74C089-B5A0-5856-E07B-50C877B53F86}"/>
                    </a:ext>
                  </a:extLst>
                </p:cNvPr>
                <p:cNvGrpSpPr/>
                <p:nvPr/>
              </p:nvGrpSpPr>
              <p:grpSpPr>
                <a:xfrm>
                  <a:off x="2790349" y="744750"/>
                  <a:ext cx="2329489" cy="4939770"/>
                  <a:chOff x="4477349" y="453122"/>
                  <a:chExt cx="2329489" cy="4939770"/>
                </a:xfrm>
              </p:grpSpPr>
              <p:grpSp>
                <p:nvGrpSpPr>
                  <p:cNvPr id="74" name="组合 73">
                    <a:extLst>
                      <a:ext uri="{FF2B5EF4-FFF2-40B4-BE49-F238E27FC236}">
                        <a16:creationId xmlns:a16="http://schemas.microsoft.com/office/drawing/2014/main" id="{FB8AEA38-E6DB-CA8D-E1B0-A527D7CC5949}"/>
                      </a:ext>
                    </a:extLst>
                  </p:cNvPr>
                  <p:cNvGrpSpPr/>
                  <p:nvPr/>
                </p:nvGrpSpPr>
                <p:grpSpPr>
                  <a:xfrm>
                    <a:off x="4665311" y="1752133"/>
                    <a:ext cx="2060070" cy="3461952"/>
                    <a:chOff x="4674904" y="1916815"/>
                    <a:chExt cx="2060070" cy="3461952"/>
                  </a:xfrm>
                </p:grpSpPr>
                <p:grpSp>
                  <p:nvGrpSpPr>
                    <p:cNvPr id="73" name="组合 72">
                      <a:extLst>
                        <a:ext uri="{FF2B5EF4-FFF2-40B4-BE49-F238E27FC236}">
                          <a16:creationId xmlns:a16="http://schemas.microsoft.com/office/drawing/2014/main" id="{F62567F4-A808-CDC0-81E8-41A67444676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74904" y="2734023"/>
                      <a:ext cx="2048558" cy="1136513"/>
                      <a:chOff x="4674905" y="2569340"/>
                      <a:chExt cx="2048558" cy="1136513"/>
                    </a:xfrm>
                  </p:grpSpPr>
                  <p:cxnSp>
                    <p:nvCxnSpPr>
                      <p:cNvPr id="59" name="连接符: 肘形 58">
                        <a:extLst>
                          <a:ext uri="{FF2B5EF4-FFF2-40B4-BE49-F238E27FC236}">
                            <a16:creationId xmlns:a16="http://schemas.microsoft.com/office/drawing/2014/main" id="{8F15FD1C-70F6-A828-BBD4-D48389E0F46C}"/>
                          </a:ext>
                        </a:extLst>
                      </p:cNvPr>
                      <p:cNvCxnSpPr>
                        <a:cxnSpLocks/>
                        <a:endCxn id="50" idx="1"/>
                      </p:cNvCxnSpPr>
                      <p:nvPr/>
                    </p:nvCxnSpPr>
                    <p:spPr>
                      <a:xfrm rot="16200000" flipH="1">
                        <a:off x="4368373" y="2875872"/>
                        <a:ext cx="843263" cy="230199"/>
                      </a:xfrm>
                      <a:prstGeom prst="bentConnector2">
                        <a:avLst/>
                      </a:prstGeom>
                      <a:ln w="38100">
                        <a:solidFill>
                          <a:schemeClr val="bg1">
                            <a:lumMod val="50000"/>
                          </a:schemeClr>
                        </a:solidFill>
                        <a:tailEnd type="triangl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50" name="矩形: 圆角 49">
                        <a:extLst>
                          <a:ext uri="{FF2B5EF4-FFF2-40B4-BE49-F238E27FC236}">
                            <a16:creationId xmlns:a16="http://schemas.microsoft.com/office/drawing/2014/main" id="{57F2493C-67AF-EA3A-D2D5-65A6457B5F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905104" y="3119354"/>
                        <a:ext cx="1818359" cy="586499"/>
                      </a:xfrm>
                      <a:prstGeom prst="roundRect">
                        <a:avLst>
                          <a:gd name="adj" fmla="val 7728"/>
                        </a:avLst>
                      </a:prstGeom>
                      <a:solidFill>
                        <a:srgbClr val="0B76A0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zh-CN" altLang="en-US" b="1" dirty="0">
                            <a:solidFill>
                              <a:schemeClr val="bg1"/>
                            </a:solidFill>
                            <a:latin typeface="Microsoft YaHei UI" panose="020B0503020204020204" pitchFamily="34" charset="-122"/>
                            <a:ea typeface="Microsoft YaHei UI" panose="020B0503020204020204" pitchFamily="34" charset="-122"/>
                          </a:rPr>
                          <a:t>惯性矩阵对角化</a:t>
                        </a:r>
                        <a:endParaRPr lang="en-US" altLang="zh-CN" b="1" dirty="0">
                          <a:solidFill>
                            <a:schemeClr val="bg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endParaRPr>
                      </a:p>
                    </p:txBody>
                  </p:sp>
                </p:grpSp>
                <p:grpSp>
                  <p:nvGrpSpPr>
                    <p:cNvPr id="70" name="组合 69">
                      <a:extLst>
                        <a:ext uri="{FF2B5EF4-FFF2-40B4-BE49-F238E27FC236}">
                          <a16:creationId xmlns:a16="http://schemas.microsoft.com/office/drawing/2014/main" id="{09E8E4F5-B0CE-0503-3BBA-6C78A2051FB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75496" y="3400503"/>
                      <a:ext cx="2054682" cy="1226245"/>
                      <a:chOff x="4675496" y="3344169"/>
                      <a:chExt cx="2054682" cy="1226245"/>
                    </a:xfrm>
                  </p:grpSpPr>
                  <p:sp>
                    <p:nvSpPr>
                      <p:cNvPr id="53" name="矩形: 圆角 52">
                        <a:extLst>
                          <a:ext uri="{FF2B5EF4-FFF2-40B4-BE49-F238E27FC236}">
                            <a16:creationId xmlns:a16="http://schemas.microsoft.com/office/drawing/2014/main" id="{6D9C4F46-C7C0-CD5D-592A-D81BF028FC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911819" y="3983915"/>
                        <a:ext cx="1818359" cy="586499"/>
                      </a:xfrm>
                      <a:prstGeom prst="roundRect">
                        <a:avLst>
                          <a:gd name="adj" fmla="val 7728"/>
                        </a:avLst>
                      </a:prstGeom>
                      <a:solidFill>
                        <a:srgbClr val="0B76A0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zh-CN" altLang="en-US" b="1" dirty="0">
                            <a:solidFill>
                              <a:schemeClr val="bg1"/>
                            </a:solidFill>
                            <a:latin typeface="Microsoft YaHei UI" panose="020B0503020204020204" pitchFamily="34" charset="-122"/>
                            <a:ea typeface="Microsoft YaHei UI" panose="020B0503020204020204" pitchFamily="34" charset="-122"/>
                          </a:rPr>
                          <a:t>阻尼矩阵线性化</a:t>
                        </a:r>
                        <a:endParaRPr lang="en-US" altLang="zh-CN" b="1" dirty="0">
                          <a:solidFill>
                            <a:schemeClr val="bg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endParaRPr>
                      </a:p>
                    </p:txBody>
                  </p:sp>
                  <p:cxnSp>
                    <p:nvCxnSpPr>
                      <p:cNvPr id="62" name="连接符: 肘形 61">
                        <a:extLst>
                          <a:ext uri="{FF2B5EF4-FFF2-40B4-BE49-F238E27FC236}">
                            <a16:creationId xmlns:a16="http://schemas.microsoft.com/office/drawing/2014/main" id="{EEA13EB1-E8B0-162C-D7A4-55291F2AB8FD}"/>
                          </a:ext>
                        </a:extLst>
                      </p:cNvPr>
                      <p:cNvCxnSpPr>
                        <a:cxnSpLocks/>
                        <a:endCxn id="53" idx="1"/>
                      </p:cNvCxnSpPr>
                      <p:nvPr/>
                    </p:nvCxnSpPr>
                    <p:spPr>
                      <a:xfrm rot="16200000" flipH="1">
                        <a:off x="4327160" y="3692505"/>
                        <a:ext cx="932995" cy="236324"/>
                      </a:xfrm>
                      <a:prstGeom prst="bentConnector2">
                        <a:avLst/>
                      </a:prstGeom>
                      <a:ln w="38100">
                        <a:solidFill>
                          <a:schemeClr val="bg1">
                            <a:lumMod val="50000"/>
                          </a:schemeClr>
                        </a:solidFill>
                        <a:tailEnd type="triangl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69" name="组合 68">
                      <a:extLst>
                        <a:ext uri="{FF2B5EF4-FFF2-40B4-BE49-F238E27FC236}">
                          <a16:creationId xmlns:a16="http://schemas.microsoft.com/office/drawing/2014/main" id="{7D8727CE-4CBA-244A-53EB-7B21EC0E658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75497" y="4314738"/>
                      <a:ext cx="2059477" cy="1064029"/>
                      <a:chOff x="4675497" y="4314738"/>
                      <a:chExt cx="2059477" cy="1064029"/>
                    </a:xfrm>
                  </p:grpSpPr>
                  <p:sp>
                    <p:nvSpPr>
                      <p:cNvPr id="54" name="矩形: 圆角 53">
                        <a:extLst>
                          <a:ext uri="{FF2B5EF4-FFF2-40B4-BE49-F238E27FC236}">
                            <a16:creationId xmlns:a16="http://schemas.microsoft.com/office/drawing/2014/main" id="{E4348F9F-ECCE-00C8-7B32-FDF8AE77A4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907021" y="4792268"/>
                        <a:ext cx="1827953" cy="586499"/>
                      </a:xfrm>
                      <a:prstGeom prst="roundRect">
                        <a:avLst>
                          <a:gd name="adj" fmla="val 7728"/>
                        </a:avLst>
                      </a:prstGeom>
                      <a:solidFill>
                        <a:srgbClr val="0B76A0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zh-CN" altLang="en-US" b="1" dirty="0">
                            <a:solidFill>
                              <a:schemeClr val="bg1"/>
                            </a:solidFill>
                            <a:latin typeface="Microsoft YaHei UI" panose="020B0503020204020204" pitchFamily="34" charset="-122"/>
                            <a:ea typeface="Microsoft YaHei UI" panose="020B0503020204020204" pitchFamily="34" charset="-122"/>
                          </a:rPr>
                          <a:t>恢复力向量简化</a:t>
                        </a:r>
                        <a:endParaRPr lang="en-US" altLang="zh-CN" b="1" dirty="0">
                          <a:solidFill>
                            <a:schemeClr val="bg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endParaRPr>
                      </a:p>
                    </p:txBody>
                  </p:sp>
                  <p:cxnSp>
                    <p:nvCxnSpPr>
                      <p:cNvPr id="66" name="连接符: 肘形 65">
                        <a:extLst>
                          <a:ext uri="{FF2B5EF4-FFF2-40B4-BE49-F238E27FC236}">
                            <a16:creationId xmlns:a16="http://schemas.microsoft.com/office/drawing/2014/main" id="{85E344E9-8D97-BEFC-C1A3-A86CAAD0AC76}"/>
                          </a:ext>
                        </a:extLst>
                      </p:cNvPr>
                      <p:cNvCxnSpPr>
                        <a:cxnSpLocks/>
                        <a:endCxn id="54" idx="1"/>
                      </p:cNvCxnSpPr>
                      <p:nvPr/>
                    </p:nvCxnSpPr>
                    <p:spPr>
                      <a:xfrm rot="16200000" flipH="1">
                        <a:off x="4405869" y="4584366"/>
                        <a:ext cx="770780" cy="231524"/>
                      </a:xfrm>
                      <a:prstGeom prst="bentConnector2">
                        <a:avLst/>
                      </a:prstGeom>
                      <a:ln w="38100">
                        <a:solidFill>
                          <a:schemeClr val="bg1">
                            <a:lumMod val="50000"/>
                          </a:schemeClr>
                        </a:solidFill>
                        <a:tailEnd type="triangl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68" name="组合 67">
                      <a:extLst>
                        <a:ext uri="{FF2B5EF4-FFF2-40B4-BE49-F238E27FC236}">
                          <a16:creationId xmlns:a16="http://schemas.microsoft.com/office/drawing/2014/main" id="{2A842329-F7DD-3D36-C6E3-350BF52F38D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75497" y="1916815"/>
                      <a:ext cx="2047965" cy="1171993"/>
                      <a:chOff x="4675497" y="1952207"/>
                      <a:chExt cx="2047965" cy="1171993"/>
                    </a:xfrm>
                  </p:grpSpPr>
                  <p:sp>
                    <p:nvSpPr>
                      <p:cNvPr id="55" name="矩形: 圆角 54">
                        <a:extLst>
                          <a:ext uri="{FF2B5EF4-FFF2-40B4-BE49-F238E27FC236}">
                            <a16:creationId xmlns:a16="http://schemas.microsoft.com/office/drawing/2014/main" id="{4745D28E-2C3A-F1AF-7A4C-3CD31FE911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905103" y="2537701"/>
                        <a:ext cx="1818359" cy="586499"/>
                      </a:xfrm>
                      <a:prstGeom prst="roundRect">
                        <a:avLst>
                          <a:gd name="adj" fmla="val 7728"/>
                        </a:avLst>
                      </a:prstGeom>
                      <a:solidFill>
                        <a:srgbClr val="0B76A0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zh-CN" altLang="en-US" b="1" dirty="0">
                            <a:solidFill>
                              <a:schemeClr val="bg1"/>
                            </a:solidFill>
                            <a:effectLst/>
                            <a:latin typeface="Microsoft YaHei UI" panose="020B0503020204020204" pitchFamily="34" charset="-122"/>
                            <a:ea typeface="Microsoft YaHei UI" panose="020B0503020204020204" pitchFamily="34" charset="-122"/>
                          </a:rPr>
                          <a:t>扰动项统一辨识</a:t>
                        </a:r>
                        <a:endParaRPr lang="en-US" altLang="zh-CN" b="1" dirty="0">
                          <a:solidFill>
                            <a:schemeClr val="bg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endParaRPr>
                      </a:p>
                    </p:txBody>
                  </p:sp>
                  <p:cxnSp>
                    <p:nvCxnSpPr>
                      <p:cNvPr id="67" name="连接符: 肘形 66">
                        <a:extLst>
                          <a:ext uri="{FF2B5EF4-FFF2-40B4-BE49-F238E27FC236}">
                            <a16:creationId xmlns:a16="http://schemas.microsoft.com/office/drawing/2014/main" id="{F1D8A78B-5E7D-1CA3-6284-FEC7B1707CE0}"/>
                          </a:ext>
                        </a:extLst>
                      </p:cNvPr>
                      <p:cNvCxnSpPr>
                        <a:cxnSpLocks/>
                        <a:endCxn id="55" idx="1"/>
                      </p:cNvCxnSpPr>
                      <p:nvPr/>
                    </p:nvCxnSpPr>
                    <p:spPr>
                      <a:xfrm rot="16200000" flipH="1">
                        <a:off x="4350928" y="2276776"/>
                        <a:ext cx="878744" cy="229606"/>
                      </a:xfrm>
                      <a:prstGeom prst="bentConnector2">
                        <a:avLst/>
                      </a:prstGeom>
                      <a:ln w="38100">
                        <a:solidFill>
                          <a:schemeClr val="bg1">
                            <a:lumMod val="50000"/>
                          </a:schemeClr>
                        </a:solidFill>
                        <a:tailEnd type="triangl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45" name="直接箭头连接符 44">
                    <a:extLst>
                      <a:ext uri="{FF2B5EF4-FFF2-40B4-BE49-F238E27FC236}">
                        <a16:creationId xmlns:a16="http://schemas.microsoft.com/office/drawing/2014/main" id="{FC100CF4-8332-7921-0D92-5F1D5E447A38}"/>
                      </a:ext>
                    </a:extLst>
                  </p:cNvPr>
                  <p:cNvCxnSpPr>
                    <a:cxnSpLocks/>
                    <a:stCxn id="48" idx="2"/>
                  </p:cNvCxnSpPr>
                  <p:nvPr/>
                </p:nvCxnSpPr>
                <p:spPr>
                  <a:xfrm>
                    <a:off x="5632500" y="1233740"/>
                    <a:ext cx="0" cy="364562"/>
                  </a:xfrm>
                  <a:prstGeom prst="straightConnector1">
                    <a:avLst/>
                  </a:prstGeom>
                  <a:ln w="38100">
                    <a:solidFill>
                      <a:schemeClr val="bg1">
                        <a:lumMod val="50000"/>
                      </a:schemeClr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8" name="矩形: 圆角 47">
                    <a:extLst>
                      <a:ext uri="{FF2B5EF4-FFF2-40B4-BE49-F238E27FC236}">
                        <a16:creationId xmlns:a16="http://schemas.microsoft.com/office/drawing/2014/main" id="{9CCE7416-4C38-7C08-E18A-32F7733C7E6E}"/>
                      </a:ext>
                    </a:extLst>
                  </p:cNvPr>
                  <p:cNvSpPr/>
                  <p:nvPr/>
                </p:nvSpPr>
                <p:spPr>
                  <a:xfrm>
                    <a:off x="4540300" y="525179"/>
                    <a:ext cx="2184400" cy="708561"/>
                  </a:xfrm>
                  <a:prstGeom prst="roundRect">
                    <a:avLst>
                      <a:gd name="adj" fmla="val 7728"/>
                    </a:avLst>
                  </a:prstGeom>
                  <a:solidFill>
                    <a:schemeClr val="accent4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CN" altLang="en-US" b="1" dirty="0">
                        <a:solidFill>
                          <a:schemeClr val="bg1"/>
                        </a:solidFill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rPr>
                      <a:t>动力学模型化简</a:t>
                    </a:r>
                  </a:p>
                </p:txBody>
              </p:sp>
              <p:sp>
                <p:nvSpPr>
                  <p:cNvPr id="49" name="矩形: 圆角 48">
                    <a:extLst>
                      <a:ext uri="{FF2B5EF4-FFF2-40B4-BE49-F238E27FC236}">
                        <a16:creationId xmlns:a16="http://schemas.microsoft.com/office/drawing/2014/main" id="{6DFF2719-7231-1C69-5D85-68416A53349B}"/>
                      </a:ext>
                    </a:extLst>
                  </p:cNvPr>
                  <p:cNvSpPr/>
                  <p:nvPr/>
                </p:nvSpPr>
                <p:spPr>
                  <a:xfrm>
                    <a:off x="4540300" y="1592365"/>
                    <a:ext cx="2184399" cy="586499"/>
                  </a:xfrm>
                  <a:prstGeom prst="roundRect">
                    <a:avLst>
                      <a:gd name="adj" fmla="val 7728"/>
                    </a:avLst>
                  </a:prstGeom>
                  <a:solidFill>
                    <a:srgbClr val="0B76A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CN" altLang="en-US" b="1" dirty="0">
                        <a:solidFill>
                          <a:schemeClr val="bg1"/>
                        </a:solidFill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rPr>
                      <a:t>基本工况假设</a:t>
                    </a:r>
                    <a:endParaRPr lang="en-US" altLang="zh-CN" b="1" dirty="0">
                      <a:solidFill>
                        <a:schemeClr val="bg1"/>
                      </a:solidFill>
                      <a:effectLst/>
                      <a:latin typeface="Microsoft YaHei UI" panose="020B0503020204020204" pitchFamily="34" charset="-122"/>
                      <a:ea typeface="Microsoft YaHei UI" panose="020B0503020204020204" pitchFamily="34" charset="-122"/>
                    </a:endParaRPr>
                  </a:p>
                </p:txBody>
              </p:sp>
              <p:sp>
                <p:nvSpPr>
                  <p:cNvPr id="51" name="矩形: 圆角 50">
                    <a:extLst>
                      <a:ext uri="{FF2B5EF4-FFF2-40B4-BE49-F238E27FC236}">
                        <a16:creationId xmlns:a16="http://schemas.microsoft.com/office/drawing/2014/main" id="{37D7C803-083C-C0B3-E29E-93C7A5FFD65B}"/>
                      </a:ext>
                    </a:extLst>
                  </p:cNvPr>
                  <p:cNvSpPr/>
                  <p:nvPr/>
                </p:nvSpPr>
                <p:spPr>
                  <a:xfrm>
                    <a:off x="4477349" y="453122"/>
                    <a:ext cx="2329489" cy="4939770"/>
                  </a:xfrm>
                  <a:prstGeom prst="roundRect">
                    <a:avLst>
                      <a:gd name="adj" fmla="val 4922"/>
                    </a:avLst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cxnSp>
              <p:nvCxnSpPr>
                <p:cNvPr id="78" name="连接符: 肘形 77">
                  <a:extLst>
                    <a:ext uri="{FF2B5EF4-FFF2-40B4-BE49-F238E27FC236}">
                      <a16:creationId xmlns:a16="http://schemas.microsoft.com/office/drawing/2014/main" id="{F509DDA1-79CD-2BE0-9DB2-310E7432143A}"/>
                    </a:ext>
                  </a:extLst>
                </p:cNvPr>
                <p:cNvCxnSpPr>
                  <a:cxnSpLocks/>
                  <a:stCxn id="41" idx="2"/>
                </p:cNvCxnSpPr>
                <p:nvPr/>
              </p:nvCxnSpPr>
              <p:spPr>
                <a:xfrm rot="16200000" flipH="1">
                  <a:off x="1617561" y="3163932"/>
                  <a:ext cx="850664" cy="1498007"/>
                </a:xfrm>
                <a:prstGeom prst="bentConnector2">
                  <a:avLst/>
                </a:prstGeom>
                <a:ln w="38100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03" name="组合 102">
                  <a:extLst>
                    <a:ext uri="{FF2B5EF4-FFF2-40B4-BE49-F238E27FC236}">
                      <a16:creationId xmlns:a16="http://schemas.microsoft.com/office/drawing/2014/main" id="{C52160AF-0358-6F27-ECF8-A174073AC2BD}"/>
                    </a:ext>
                  </a:extLst>
                </p:cNvPr>
                <p:cNvGrpSpPr/>
                <p:nvPr/>
              </p:nvGrpSpPr>
              <p:grpSpPr>
                <a:xfrm>
                  <a:off x="5430663" y="744750"/>
                  <a:ext cx="2329489" cy="4255107"/>
                  <a:chOff x="6096000" y="1029883"/>
                  <a:chExt cx="2329489" cy="4255107"/>
                </a:xfrm>
              </p:grpSpPr>
              <p:sp>
                <p:nvSpPr>
                  <p:cNvPr id="28" name="矩形: 圆角 27">
                    <a:extLst>
                      <a:ext uri="{FF2B5EF4-FFF2-40B4-BE49-F238E27FC236}">
                        <a16:creationId xmlns:a16="http://schemas.microsoft.com/office/drawing/2014/main" id="{4897FDB9-85BC-086D-0F36-49795A507060}"/>
                      </a:ext>
                    </a:extLst>
                  </p:cNvPr>
                  <p:cNvSpPr/>
                  <p:nvPr/>
                </p:nvSpPr>
                <p:spPr>
                  <a:xfrm>
                    <a:off x="6168544" y="1111678"/>
                    <a:ext cx="2184400" cy="708561"/>
                  </a:xfrm>
                  <a:prstGeom prst="roundRect">
                    <a:avLst>
                      <a:gd name="adj" fmla="val 7728"/>
                    </a:avLst>
                  </a:prstGeom>
                  <a:solidFill>
                    <a:srgbClr val="82C0A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CN" altLang="en-US" b="1" dirty="0">
                        <a:solidFill>
                          <a:schemeClr val="bg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rPr>
                      <a:t>控制算法设计</a:t>
                    </a:r>
                    <a:endParaRPr lang="zh-CN" altLang="en-US" b="1" dirty="0">
                      <a:solidFill>
                        <a:schemeClr val="bg1"/>
                      </a:solidFill>
                      <a:effectLst/>
                      <a:latin typeface="Microsoft YaHei UI" panose="020B0503020204020204" pitchFamily="34" charset="-122"/>
                      <a:ea typeface="Microsoft YaHei UI" panose="020B0503020204020204" pitchFamily="34" charset="-122"/>
                    </a:endParaRPr>
                  </a:p>
                </p:txBody>
              </p:sp>
              <p:sp>
                <p:nvSpPr>
                  <p:cNvPr id="91" name="矩形: 圆角 90">
                    <a:extLst>
                      <a:ext uri="{FF2B5EF4-FFF2-40B4-BE49-F238E27FC236}">
                        <a16:creationId xmlns:a16="http://schemas.microsoft.com/office/drawing/2014/main" id="{A0831610-9B79-186C-1FA1-82A54F960DF2}"/>
                      </a:ext>
                    </a:extLst>
                  </p:cNvPr>
                  <p:cNvSpPr/>
                  <p:nvPr/>
                </p:nvSpPr>
                <p:spPr>
                  <a:xfrm>
                    <a:off x="6168545" y="4511223"/>
                    <a:ext cx="2184399" cy="586499"/>
                  </a:xfrm>
                  <a:prstGeom prst="roundRect">
                    <a:avLst>
                      <a:gd name="adj" fmla="val 7728"/>
                    </a:avLst>
                  </a:prstGeom>
                  <a:solidFill>
                    <a:srgbClr val="82C0A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CN" altLang="en-US" b="1" dirty="0">
                        <a:solidFill>
                          <a:schemeClr val="bg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rPr>
                      <a:t>推进器推力分配</a:t>
                    </a:r>
                    <a:endParaRPr lang="en-US" altLang="zh-CN" b="1" dirty="0">
                      <a:solidFill>
                        <a:schemeClr val="bg1"/>
                      </a:solidFill>
                      <a:effectLst/>
                      <a:latin typeface="Microsoft YaHei UI" panose="020B0503020204020204" pitchFamily="34" charset="-122"/>
                      <a:ea typeface="Microsoft YaHei UI" panose="020B0503020204020204" pitchFamily="34" charset="-122"/>
                    </a:endParaRPr>
                  </a:p>
                </p:txBody>
              </p:sp>
              <p:sp>
                <p:nvSpPr>
                  <p:cNvPr id="92" name="矩形: 圆角 91">
                    <a:extLst>
                      <a:ext uri="{FF2B5EF4-FFF2-40B4-BE49-F238E27FC236}">
                        <a16:creationId xmlns:a16="http://schemas.microsoft.com/office/drawing/2014/main" id="{BABD2E3A-A264-07C5-937B-B2B2A6CF8BA3}"/>
                      </a:ext>
                    </a:extLst>
                  </p:cNvPr>
                  <p:cNvSpPr/>
                  <p:nvPr/>
                </p:nvSpPr>
                <p:spPr>
                  <a:xfrm>
                    <a:off x="6096000" y="1029883"/>
                    <a:ext cx="2329489" cy="4255107"/>
                  </a:xfrm>
                  <a:prstGeom prst="roundRect">
                    <a:avLst>
                      <a:gd name="adj" fmla="val 4922"/>
                    </a:avLst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98" name="组合 97">
                    <a:extLst>
                      <a:ext uri="{FF2B5EF4-FFF2-40B4-BE49-F238E27FC236}">
                        <a16:creationId xmlns:a16="http://schemas.microsoft.com/office/drawing/2014/main" id="{14ED0ADF-0163-6B0A-A0AE-BE0C4DA89685}"/>
                      </a:ext>
                    </a:extLst>
                  </p:cNvPr>
                  <p:cNvGrpSpPr/>
                  <p:nvPr/>
                </p:nvGrpSpPr>
                <p:grpSpPr>
                  <a:xfrm>
                    <a:off x="6433034" y="2185754"/>
                    <a:ext cx="1661770" cy="2053802"/>
                    <a:chOff x="6463056" y="2112590"/>
                    <a:chExt cx="1661770" cy="2053802"/>
                  </a:xfrm>
                </p:grpSpPr>
                <p:sp>
                  <p:nvSpPr>
                    <p:cNvPr id="86" name="矩形: 圆角 85">
                      <a:extLst>
                        <a:ext uri="{FF2B5EF4-FFF2-40B4-BE49-F238E27FC236}">
                          <a16:creationId xmlns:a16="http://schemas.microsoft.com/office/drawing/2014/main" id="{B8DA88E1-756C-1733-7903-0978C857212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28784" y="3494740"/>
                      <a:ext cx="1534534" cy="586499"/>
                    </a:xfrm>
                    <a:prstGeom prst="roundRect">
                      <a:avLst>
                        <a:gd name="adj" fmla="val 7728"/>
                      </a:avLst>
                    </a:prstGeom>
                    <a:solidFill>
                      <a:srgbClr val="82C0AF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bg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模型前馈</a:t>
                      </a:r>
                      <a:endParaRPr lang="en-US" altLang="zh-CN" b="1" dirty="0">
                        <a:solidFill>
                          <a:schemeClr val="bg1"/>
                        </a:solidFill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p:txBody>
                </p:sp>
                <p:sp>
                  <p:nvSpPr>
                    <p:cNvPr id="87" name="矩形: 圆角 86">
                      <a:extLst>
                        <a:ext uri="{FF2B5EF4-FFF2-40B4-BE49-F238E27FC236}">
                          <a16:creationId xmlns:a16="http://schemas.microsoft.com/office/drawing/2014/main" id="{69A381B7-A489-9D2A-044D-45D9CDA50F0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28784" y="2178864"/>
                      <a:ext cx="1534534" cy="586499"/>
                    </a:xfrm>
                    <a:prstGeom prst="roundRect">
                      <a:avLst>
                        <a:gd name="adj" fmla="val 7728"/>
                      </a:avLst>
                    </a:prstGeom>
                    <a:solidFill>
                      <a:srgbClr val="82C0AF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PID-SQRT</a:t>
                      </a:r>
                      <a:r>
                        <a:rPr lang="zh-CN" altLang="en-US" b="1" dirty="0">
                          <a:solidFill>
                            <a:schemeClr val="bg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误差补偿</a:t>
                      </a:r>
                      <a:endParaRPr lang="en-US" altLang="zh-CN" b="1" dirty="0">
                        <a:solidFill>
                          <a:schemeClr val="bg1"/>
                        </a:solidFill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p:txBody>
                </p:sp>
                <p:sp>
                  <p:nvSpPr>
                    <p:cNvPr id="88" name="矩形: 圆角 87">
                      <a:extLst>
                        <a:ext uri="{FF2B5EF4-FFF2-40B4-BE49-F238E27FC236}">
                          <a16:creationId xmlns:a16="http://schemas.microsoft.com/office/drawing/2014/main" id="{6D45DBC3-76AD-C370-F5A4-60FD6775BD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28784" y="2835551"/>
                      <a:ext cx="1534534" cy="586499"/>
                    </a:xfrm>
                    <a:prstGeom prst="roundRect">
                      <a:avLst>
                        <a:gd name="adj" fmla="val 7728"/>
                      </a:avLst>
                    </a:prstGeom>
                    <a:solidFill>
                      <a:srgbClr val="82C0AF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bg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扰动观测</a:t>
                      </a:r>
                      <a:endParaRPr lang="en-US" altLang="zh-CN" b="1" dirty="0">
                        <a:solidFill>
                          <a:schemeClr val="bg1"/>
                        </a:solidFill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p:txBody>
                </p:sp>
                <p:sp>
                  <p:nvSpPr>
                    <p:cNvPr id="93" name="矩形: 圆角 92">
                      <a:extLst>
                        <a:ext uri="{FF2B5EF4-FFF2-40B4-BE49-F238E27FC236}">
                          <a16:creationId xmlns:a16="http://schemas.microsoft.com/office/drawing/2014/main" id="{083C8380-1EA9-6E89-E476-7CC659A9C8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63056" y="2112590"/>
                      <a:ext cx="1661770" cy="2053802"/>
                    </a:xfrm>
                    <a:prstGeom prst="roundRect">
                      <a:avLst>
                        <a:gd name="adj" fmla="val 2847"/>
                      </a:avLst>
                    </a:prstGeom>
                    <a:noFill/>
                    <a:ln>
                      <a:prstDash val="dash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</p:grpSp>
              <p:cxnSp>
                <p:nvCxnSpPr>
                  <p:cNvPr id="94" name="直接箭头连接符 93">
                    <a:extLst>
                      <a:ext uri="{FF2B5EF4-FFF2-40B4-BE49-F238E27FC236}">
                        <a16:creationId xmlns:a16="http://schemas.microsoft.com/office/drawing/2014/main" id="{A4D119DA-D38B-F784-DE22-8A283574CF41}"/>
                      </a:ext>
                    </a:extLst>
                  </p:cNvPr>
                  <p:cNvCxnSpPr>
                    <a:cxnSpLocks/>
                    <a:stCxn id="28" idx="2"/>
                    <a:endCxn id="93" idx="0"/>
                  </p:cNvCxnSpPr>
                  <p:nvPr/>
                </p:nvCxnSpPr>
                <p:spPr>
                  <a:xfrm>
                    <a:off x="7260744" y="1820239"/>
                    <a:ext cx="3175" cy="365515"/>
                  </a:xfrm>
                  <a:prstGeom prst="straightConnector1">
                    <a:avLst/>
                  </a:prstGeom>
                  <a:ln w="38100"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9" name="直接箭头连接符 98">
                    <a:extLst>
                      <a:ext uri="{FF2B5EF4-FFF2-40B4-BE49-F238E27FC236}">
                        <a16:creationId xmlns:a16="http://schemas.microsoft.com/office/drawing/2014/main" id="{FA5B8E76-1EB7-4B42-51B3-51AD64D8ED37}"/>
                      </a:ext>
                    </a:extLst>
                  </p:cNvPr>
                  <p:cNvCxnSpPr>
                    <a:cxnSpLocks/>
                    <a:stCxn id="93" idx="2"/>
                    <a:endCxn id="91" idx="0"/>
                  </p:cNvCxnSpPr>
                  <p:nvPr/>
                </p:nvCxnSpPr>
                <p:spPr>
                  <a:xfrm flipH="1">
                    <a:off x="7260745" y="4239556"/>
                    <a:ext cx="3174" cy="271667"/>
                  </a:xfrm>
                  <a:prstGeom prst="straightConnector1">
                    <a:avLst/>
                  </a:prstGeom>
                  <a:ln w="38100"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7" name="连接符: 肘形 16">
                  <a:extLst>
                    <a:ext uri="{FF2B5EF4-FFF2-40B4-BE49-F238E27FC236}">
                      <a16:creationId xmlns:a16="http://schemas.microsoft.com/office/drawing/2014/main" id="{84EF18C0-B60A-9394-3CF0-E819D8D10AB3}"/>
                    </a:ext>
                  </a:extLst>
                </p:cNvPr>
                <p:cNvCxnSpPr>
                  <a:cxnSpLocks/>
                  <a:stCxn id="16" idx="3"/>
                  <a:endCxn id="86" idx="1"/>
                </p:cNvCxnSpPr>
                <p:nvPr/>
              </p:nvCxnSpPr>
              <p:spPr>
                <a:xfrm flipV="1">
                  <a:off x="5074166" y="3576021"/>
                  <a:ext cx="759259" cy="886495"/>
                </a:xfrm>
                <a:prstGeom prst="bentConnector3">
                  <a:avLst>
                    <a:gd name="adj1" fmla="val 29928"/>
                  </a:avLst>
                </a:prstGeom>
                <a:ln w="38100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44" name="连接符: 肘形 43">
              <a:extLst>
                <a:ext uri="{FF2B5EF4-FFF2-40B4-BE49-F238E27FC236}">
                  <a16:creationId xmlns:a16="http://schemas.microsoft.com/office/drawing/2014/main" id="{37567F1B-2029-4D79-AEDA-A0FF812783E1}"/>
                </a:ext>
              </a:extLst>
            </p:cNvPr>
            <p:cNvCxnSpPr>
              <a:cxnSpLocks/>
              <a:stCxn id="110" idx="3"/>
              <a:endCxn id="119" idx="1"/>
            </p:cNvCxnSpPr>
            <p:nvPr/>
          </p:nvCxnSpPr>
          <p:spPr>
            <a:xfrm flipV="1">
              <a:off x="10851895" y="3238454"/>
              <a:ext cx="784468" cy="1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连接符: 肘形 51">
              <a:extLst>
                <a:ext uri="{FF2B5EF4-FFF2-40B4-BE49-F238E27FC236}">
                  <a16:creationId xmlns:a16="http://schemas.microsoft.com/office/drawing/2014/main" id="{B3ABE212-0DF6-8348-8C92-A101F39C9E0B}"/>
                </a:ext>
              </a:extLst>
            </p:cNvPr>
            <p:cNvCxnSpPr>
              <a:cxnSpLocks/>
              <a:stCxn id="92" idx="2"/>
              <a:endCxn id="108" idx="2"/>
            </p:cNvCxnSpPr>
            <p:nvPr/>
          </p:nvCxnSpPr>
          <p:spPr>
            <a:xfrm rot="5400000" flipH="1" flipV="1">
              <a:off x="8601364" y="3894065"/>
              <a:ext cx="1" cy="2640314"/>
            </a:xfrm>
            <a:prstGeom prst="bentConnector3">
              <a:avLst>
                <a:gd name="adj1" fmla="val -22860000000"/>
              </a:avLst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6068F390-F196-B2E6-FEA3-089BFEC697A4}"/>
                </a:ext>
              </a:extLst>
            </p:cNvPr>
            <p:cNvSpPr txBox="1"/>
            <p:nvPr/>
          </p:nvSpPr>
          <p:spPr>
            <a:xfrm>
              <a:off x="8125835" y="5420492"/>
              <a:ext cx="12618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>
                      <a:lumMod val="50000"/>
                    </a:schemeClr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算法实机部署</a:t>
              </a:r>
            </a:p>
          </p:txBody>
        </p:sp>
        <p:cxnSp>
          <p:nvCxnSpPr>
            <p:cNvPr id="72" name="连接符: 肘形 71">
              <a:extLst>
                <a:ext uri="{FF2B5EF4-FFF2-40B4-BE49-F238E27FC236}">
                  <a16:creationId xmlns:a16="http://schemas.microsoft.com/office/drawing/2014/main" id="{3EBFBF34-725B-D195-404A-1FB9454CD65B}"/>
                </a:ext>
              </a:extLst>
            </p:cNvPr>
            <p:cNvCxnSpPr>
              <a:cxnSpLocks/>
              <a:stCxn id="119" idx="3"/>
              <a:endCxn id="84" idx="2"/>
            </p:cNvCxnSpPr>
            <p:nvPr/>
          </p:nvCxnSpPr>
          <p:spPr>
            <a:xfrm flipH="1">
              <a:off x="6577290" y="3238454"/>
              <a:ext cx="6919822" cy="1793085"/>
            </a:xfrm>
            <a:prstGeom prst="bentConnector4">
              <a:avLst>
                <a:gd name="adj1" fmla="val -4680"/>
                <a:gd name="adj2" fmla="val 143063"/>
              </a:avLst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FEC0401B-8B8F-EB2D-DC2F-443095420E88}"/>
                </a:ext>
              </a:extLst>
            </p:cNvPr>
            <p:cNvSpPr txBox="1"/>
            <p:nvPr/>
          </p:nvSpPr>
          <p:spPr>
            <a:xfrm>
              <a:off x="8125835" y="5787850"/>
              <a:ext cx="12618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>
                      <a:lumMod val="50000"/>
                    </a:schemeClr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精确推力控制</a:t>
              </a:r>
            </a:p>
          </p:txBody>
        </p:sp>
        <p:cxnSp>
          <p:nvCxnSpPr>
            <p:cNvPr id="129" name="连接符: 肘形 128">
              <a:extLst>
                <a:ext uri="{FF2B5EF4-FFF2-40B4-BE49-F238E27FC236}">
                  <a16:creationId xmlns:a16="http://schemas.microsoft.com/office/drawing/2014/main" id="{4B042705-9CC4-9415-E67B-58CE1670043A}"/>
                </a:ext>
              </a:extLst>
            </p:cNvPr>
            <p:cNvCxnSpPr>
              <a:cxnSpLocks/>
              <a:stCxn id="55" idx="3"/>
            </p:cNvCxnSpPr>
            <p:nvPr/>
          </p:nvCxnSpPr>
          <p:spPr>
            <a:xfrm flipV="1">
              <a:off x="5712669" y="3131195"/>
              <a:ext cx="806556" cy="5675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连接符: 肘形 130">
              <a:extLst>
                <a:ext uri="{FF2B5EF4-FFF2-40B4-BE49-F238E27FC236}">
                  <a16:creationId xmlns:a16="http://schemas.microsoft.com/office/drawing/2014/main" id="{FA528243-70D1-DFC5-B713-656264166885}"/>
                </a:ext>
              </a:extLst>
            </p:cNvPr>
            <p:cNvCxnSpPr>
              <a:cxnSpLocks/>
              <a:stCxn id="118" idx="3"/>
              <a:endCxn id="16" idx="2"/>
            </p:cNvCxnSpPr>
            <p:nvPr/>
          </p:nvCxnSpPr>
          <p:spPr>
            <a:xfrm flipH="1">
              <a:off x="4807214" y="2475146"/>
              <a:ext cx="8680219" cy="3291797"/>
            </a:xfrm>
            <a:prstGeom prst="bentConnector4">
              <a:avLst>
                <a:gd name="adj1" fmla="val -6365"/>
                <a:gd name="adj2" fmla="val 113504"/>
              </a:avLst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116E9C62-0086-59A3-86EC-F95B8F90DA7B}"/>
                </a:ext>
              </a:extLst>
            </p:cNvPr>
            <p:cNvSpPr txBox="1"/>
            <p:nvPr/>
          </p:nvSpPr>
          <p:spPr>
            <a:xfrm>
              <a:off x="7570003" y="6209905"/>
              <a:ext cx="25186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>
                      <a:lumMod val="50000"/>
                    </a:schemeClr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实际阻尼与附加质量带入模型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4536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" name="直接箭头连接符 93"/>
          <p:cNvCxnSpPr/>
          <p:nvPr/>
        </p:nvCxnSpPr>
        <p:spPr>
          <a:xfrm flipH="1">
            <a:off x="4199883" y="2657191"/>
            <a:ext cx="2772" cy="407971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/>
          <p:cNvCxnSpPr/>
          <p:nvPr/>
        </p:nvCxnSpPr>
        <p:spPr>
          <a:xfrm flipV="1">
            <a:off x="4191721" y="3653790"/>
            <a:ext cx="11722" cy="531780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控制算法设计</a:t>
            </a:r>
            <a:r>
              <a:rPr lang="en-US" altLang="zh-CN" dirty="0"/>
              <a:t>-</a:t>
            </a:r>
            <a:r>
              <a:rPr lang="zh-CN" altLang="en-US" dirty="0"/>
              <a:t>推力、力矩计算</a:t>
            </a:r>
          </a:p>
        </p:txBody>
      </p:sp>
      <p:sp>
        <p:nvSpPr>
          <p:cNvPr id="8" name="矩形: 圆角 7"/>
          <p:cNvSpPr/>
          <p:nvPr/>
        </p:nvSpPr>
        <p:spPr>
          <a:xfrm>
            <a:off x="255587" y="961560"/>
            <a:ext cx="2906713" cy="5238581"/>
          </a:xfrm>
          <a:prstGeom prst="roundRect">
            <a:avLst>
              <a:gd name="adj" fmla="val 7164"/>
            </a:avLst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631824" y="1060763"/>
            <a:ext cx="2154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模型动力学前馈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631824" y="3806077"/>
            <a:ext cx="2154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双环</a:t>
            </a:r>
            <a:r>
              <a:rPr lang="en-US" altLang="zh-CN" b="1" dirty="0"/>
              <a:t>PID</a:t>
            </a:r>
            <a:r>
              <a:rPr lang="zh-CN" altLang="en-US" b="1" dirty="0"/>
              <a:t>误差补偿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296771" y="1399448"/>
            <a:ext cx="2865529" cy="1704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引入简化动力学模型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更新状态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得到抵消自身惯性、阻力、恢复力的力</a:t>
            </a:r>
            <a:r>
              <a:rPr lang="en-US" altLang="zh-CN" dirty="0"/>
              <a:t>/</a:t>
            </a:r>
            <a:r>
              <a:rPr lang="zh-CN" altLang="en-US" dirty="0"/>
              <a:t>力矩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/>
              <p:cNvSpPr txBox="1"/>
              <p:nvPr/>
            </p:nvSpPr>
            <p:spPr>
              <a:xfrm>
                <a:off x="461271" y="3171842"/>
                <a:ext cx="2536528" cy="5338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b="1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1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𝝉</m:t>
                          </m:r>
                        </m:e>
                        <m:sub>
                          <m:r>
                            <a:rPr lang="en-US" altLang="zh-CN" sz="1800" b="1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𝒇𝒇</m:t>
                          </m:r>
                        </m:sub>
                      </m:sSub>
                      <m:r>
                        <a:rPr lang="en-US" altLang="zh-CN" sz="1800" b="1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limUpp>
                        <m:limUppPr>
                          <m:ctrlPr>
                            <a:rPr lang="zh-CN" altLang="zh-CN" b="1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en-US" altLang="zh-CN" b="1" i="1" kern="10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𝑴</m:t>
                          </m:r>
                        </m:e>
                        <m:lim>
                          <m:r>
                            <a:rPr lang="en-US" altLang="zh-CN" b="1" i="1" kern="10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^</m:t>
                          </m:r>
                        </m:lim>
                      </m:limUpp>
                      <m:limUpp>
                        <m:limUp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𝜈</m:t>
                          </m:r>
                        </m:e>
                        <m:li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˙</m:t>
                          </m:r>
                        </m:lim>
                      </m:limUpp>
                      <m:r>
                        <a:rPr lang="en-US" altLang="zh-CN" sz="1800" b="1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+</m:t>
                      </m:r>
                      <m:limUpp>
                        <m:limUppPr>
                          <m:ctrlPr>
                            <a:rPr lang="zh-CN" altLang="zh-CN" sz="1800" b="1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en-US" altLang="zh-CN" sz="1800" b="1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𝑫</m:t>
                          </m:r>
                        </m:e>
                        <m:lim>
                          <m:r>
                            <a:rPr lang="en-US" altLang="zh-CN" sz="1800" b="1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^</m:t>
                          </m:r>
                        </m:lim>
                      </m:limUpp>
                      <m:r>
                        <a:rPr lang="en-US" altLang="zh-CN" sz="1800" b="1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𝝂</m:t>
                      </m:r>
                      <m:r>
                        <a:rPr lang="en-US" altLang="zh-CN" sz="1800" b="1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+</m:t>
                      </m:r>
                      <m:limUpp>
                        <m:limUppPr>
                          <m:ctrlPr>
                            <a:rPr lang="zh-CN" altLang="zh-CN" sz="1800" b="1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en-US" altLang="zh-CN" sz="1800" b="1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𝒈</m:t>
                          </m:r>
                        </m:e>
                        <m:lim>
                          <m:r>
                            <a:rPr lang="en-US" altLang="zh-CN" sz="1800" b="1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^</m:t>
                          </m:r>
                        </m:lim>
                      </m:limUpp>
                      <m:r>
                        <a:rPr lang="en-US" altLang="zh-CN" sz="1800" b="1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</m:t>
                      </m:r>
                      <m:r>
                        <a:rPr lang="en-US" altLang="zh-CN" sz="1800" b="1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𝜼</m:t>
                      </m:r>
                      <m:r>
                        <a:rPr lang="en-US" altLang="zh-CN" sz="1800" b="1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)</m:t>
                      </m:r>
                    </m:oMath>
                  </m:oMathPara>
                </a14:m>
                <a:endParaRPr lang="zh-CN" altLang="zh-CN" sz="1800" b="1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271" y="3171842"/>
                <a:ext cx="2536528" cy="533864"/>
              </a:xfrm>
              <a:prstGeom prst="rect">
                <a:avLst/>
              </a:prstGeom>
              <a:blipFill rotWithShape="1">
                <a:blip r:embed="rId2"/>
                <a:stretch>
                  <a:fillRect l="-10" t="-3" r="24" b="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/>
          <p:cNvSpPr txBox="1"/>
          <p:nvPr/>
        </p:nvSpPr>
        <p:spPr>
          <a:xfrm>
            <a:off x="326866" y="4280005"/>
            <a:ext cx="2764154" cy="1704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姿态采用位置</a:t>
            </a:r>
            <a:r>
              <a:rPr lang="en-US" altLang="zh-CN" dirty="0"/>
              <a:t>-</a:t>
            </a:r>
            <a:r>
              <a:rPr lang="zh-CN" altLang="en-US" dirty="0"/>
              <a:t>速度双闭环控制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平移采用速度单闭环控制</a:t>
            </a:r>
          </a:p>
        </p:txBody>
      </p:sp>
      <p:sp>
        <p:nvSpPr>
          <p:cNvPr id="27" name="矩形: 圆角 26"/>
          <p:cNvSpPr/>
          <p:nvPr/>
        </p:nvSpPr>
        <p:spPr>
          <a:xfrm>
            <a:off x="3611563" y="4094130"/>
            <a:ext cx="1160315" cy="7738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/>
              <a:t>传感器</a:t>
            </a:r>
            <a:endParaRPr lang="en-US" altLang="zh-CN" sz="1600" b="1" dirty="0"/>
          </a:p>
          <a:p>
            <a:pPr algn="ctr"/>
            <a:r>
              <a:rPr lang="zh-CN" altLang="en-US" sz="1600" b="1" dirty="0"/>
              <a:t>融合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5316553" y="734786"/>
            <a:ext cx="3917988" cy="1649639"/>
            <a:chOff x="84692" y="708420"/>
            <a:chExt cx="6074612" cy="5632745"/>
          </a:xfrm>
        </p:grpSpPr>
        <p:grpSp>
          <p:nvGrpSpPr>
            <p:cNvPr id="31" name="组合 30"/>
            <p:cNvGrpSpPr/>
            <p:nvPr/>
          </p:nvGrpSpPr>
          <p:grpSpPr>
            <a:xfrm>
              <a:off x="84692" y="773466"/>
              <a:ext cx="6074612" cy="5567699"/>
              <a:chOff x="84692" y="773466"/>
              <a:chExt cx="6074612" cy="5567699"/>
            </a:xfrm>
          </p:grpSpPr>
          <p:sp>
            <p:nvSpPr>
              <p:cNvPr id="33" name="任意多边形: 形状 32"/>
              <p:cNvSpPr/>
              <p:nvPr/>
            </p:nvSpPr>
            <p:spPr>
              <a:xfrm>
                <a:off x="84692" y="774873"/>
                <a:ext cx="6064178" cy="1181903"/>
              </a:xfrm>
              <a:custGeom>
                <a:avLst/>
                <a:gdLst>
                  <a:gd name="connsiteX0" fmla="*/ 233732 w 6064178"/>
                  <a:gd name="connsiteY0" fmla="*/ 0 h 768916"/>
                  <a:gd name="connsiteX1" fmla="*/ 5830446 w 6064178"/>
                  <a:gd name="connsiteY1" fmla="*/ 0 h 768916"/>
                  <a:gd name="connsiteX2" fmla="*/ 6064178 w 6064178"/>
                  <a:gd name="connsiteY2" fmla="*/ 233732 h 768916"/>
                  <a:gd name="connsiteX3" fmla="*/ 6064178 w 6064178"/>
                  <a:gd name="connsiteY3" fmla="*/ 768916 h 768916"/>
                  <a:gd name="connsiteX4" fmla="*/ 0 w 6064178"/>
                  <a:gd name="connsiteY4" fmla="*/ 768916 h 768916"/>
                  <a:gd name="connsiteX5" fmla="*/ 0 w 6064178"/>
                  <a:gd name="connsiteY5" fmla="*/ 233732 h 768916"/>
                  <a:gd name="connsiteX6" fmla="*/ 233732 w 6064178"/>
                  <a:gd name="connsiteY6" fmla="*/ 0 h 7689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64178" h="768916">
                    <a:moveTo>
                      <a:pt x="233732" y="0"/>
                    </a:moveTo>
                    <a:lnTo>
                      <a:pt x="5830446" y="0"/>
                    </a:lnTo>
                    <a:cubicBezTo>
                      <a:pt x="5959533" y="0"/>
                      <a:pt x="6064178" y="104645"/>
                      <a:pt x="6064178" y="233732"/>
                    </a:cubicBezTo>
                    <a:lnTo>
                      <a:pt x="6064178" y="768916"/>
                    </a:lnTo>
                    <a:lnTo>
                      <a:pt x="0" y="768916"/>
                    </a:lnTo>
                    <a:lnTo>
                      <a:pt x="0" y="233732"/>
                    </a:lnTo>
                    <a:cubicBezTo>
                      <a:pt x="0" y="104645"/>
                      <a:pt x="104645" y="0"/>
                      <a:pt x="233732" y="0"/>
                    </a:cubicBezTo>
                    <a:close/>
                  </a:path>
                </a:pathLst>
              </a:custGeom>
              <a:solidFill>
                <a:srgbClr val="C8161E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4" name="矩形: 圆角 33"/>
              <p:cNvSpPr/>
              <p:nvPr/>
            </p:nvSpPr>
            <p:spPr>
              <a:xfrm>
                <a:off x="95126" y="773466"/>
                <a:ext cx="6064178" cy="5567699"/>
              </a:xfrm>
              <a:prstGeom prst="roundRect">
                <a:avLst>
                  <a:gd name="adj" fmla="val 4198"/>
                </a:avLst>
              </a:prstGeom>
              <a:noFill/>
              <a:ln w="381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2" name="文本框 31"/>
            <p:cNvSpPr txBox="1"/>
            <p:nvPr/>
          </p:nvSpPr>
          <p:spPr>
            <a:xfrm>
              <a:off x="1128183" y="708420"/>
              <a:ext cx="4016387" cy="7972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</a:rPr>
                <a:t>双环控制姿态</a:t>
              </a:r>
            </a:p>
          </p:txBody>
        </p:sp>
      </p:grpSp>
      <p:sp>
        <p:nvSpPr>
          <p:cNvPr id="56" name="矩形: 圆角 55"/>
          <p:cNvSpPr/>
          <p:nvPr/>
        </p:nvSpPr>
        <p:spPr>
          <a:xfrm>
            <a:off x="5835551" y="1521122"/>
            <a:ext cx="1428750" cy="4682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/>
              <a:t>开方根函数</a:t>
            </a:r>
          </a:p>
        </p:txBody>
      </p:sp>
      <p:sp>
        <p:nvSpPr>
          <p:cNvPr id="57" name="矩形: 圆角 56"/>
          <p:cNvSpPr/>
          <p:nvPr/>
        </p:nvSpPr>
        <p:spPr>
          <a:xfrm>
            <a:off x="7912295" y="1521122"/>
            <a:ext cx="667765" cy="4682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/>
              <a:t>PID</a:t>
            </a:r>
            <a:endParaRPr lang="zh-CN" altLang="en-US" sz="1600" b="1" dirty="0"/>
          </a:p>
        </p:txBody>
      </p:sp>
      <p:sp>
        <p:nvSpPr>
          <p:cNvPr id="60" name="文本框 59"/>
          <p:cNvSpPr txBox="1"/>
          <p:nvPr/>
        </p:nvSpPr>
        <p:spPr>
          <a:xfrm>
            <a:off x="7051251" y="1384123"/>
            <a:ext cx="1092828" cy="700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b="1" dirty="0"/>
              <a:t>期望</a:t>
            </a:r>
            <a:endParaRPr lang="en-US" altLang="zh-CN" sz="1400" b="1" dirty="0"/>
          </a:p>
          <a:p>
            <a:pPr algn="ctr">
              <a:lnSpc>
                <a:spcPct val="150000"/>
              </a:lnSpc>
            </a:pPr>
            <a:r>
              <a:rPr lang="zh-CN" altLang="en-US" sz="1400" b="1" dirty="0"/>
              <a:t>角速度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5119335" y="1348115"/>
            <a:ext cx="882711" cy="700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b="1" dirty="0"/>
              <a:t>姿态</a:t>
            </a:r>
            <a:endParaRPr lang="en-US" altLang="zh-CN" sz="1400" b="1" dirty="0"/>
          </a:p>
          <a:p>
            <a:pPr algn="ctr">
              <a:lnSpc>
                <a:spcPct val="150000"/>
              </a:lnSpc>
            </a:pPr>
            <a:r>
              <a:rPr lang="zh-CN" altLang="en-US" sz="1400" b="1" dirty="0"/>
              <a:t>误差</a:t>
            </a:r>
            <a:endParaRPr lang="en-US" altLang="zh-CN" sz="1400" b="1" dirty="0"/>
          </a:p>
        </p:txBody>
      </p:sp>
      <p:sp>
        <p:nvSpPr>
          <p:cNvPr id="66" name="文本框 65"/>
          <p:cNvSpPr txBox="1"/>
          <p:nvPr/>
        </p:nvSpPr>
        <p:spPr>
          <a:xfrm>
            <a:off x="8456727" y="1364499"/>
            <a:ext cx="882711" cy="700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b="1" dirty="0"/>
              <a:t>期望</a:t>
            </a:r>
            <a:endParaRPr lang="en-US" altLang="zh-CN" sz="1400" b="1" dirty="0"/>
          </a:p>
          <a:p>
            <a:pPr algn="ctr">
              <a:lnSpc>
                <a:spcPct val="150000"/>
              </a:lnSpc>
            </a:pPr>
            <a:r>
              <a:rPr lang="zh-CN" altLang="en-US" sz="1400" b="1" dirty="0"/>
              <a:t>力矩</a:t>
            </a:r>
            <a:endParaRPr lang="en-US" altLang="zh-CN" sz="1400" b="1" dirty="0"/>
          </a:p>
        </p:txBody>
      </p:sp>
      <p:grpSp>
        <p:nvGrpSpPr>
          <p:cNvPr id="67" name="组合 66"/>
          <p:cNvGrpSpPr/>
          <p:nvPr/>
        </p:nvGrpSpPr>
        <p:grpSpPr>
          <a:xfrm>
            <a:off x="5329808" y="2469628"/>
            <a:ext cx="3917988" cy="1630589"/>
            <a:chOff x="84692" y="773466"/>
            <a:chExt cx="6074612" cy="5567699"/>
          </a:xfrm>
        </p:grpSpPr>
        <p:grpSp>
          <p:nvGrpSpPr>
            <p:cNvPr id="68" name="组合 67"/>
            <p:cNvGrpSpPr/>
            <p:nvPr/>
          </p:nvGrpSpPr>
          <p:grpSpPr>
            <a:xfrm>
              <a:off x="84692" y="773466"/>
              <a:ext cx="6074612" cy="5567699"/>
              <a:chOff x="84692" y="773466"/>
              <a:chExt cx="6074612" cy="5567699"/>
            </a:xfrm>
          </p:grpSpPr>
          <p:sp>
            <p:nvSpPr>
              <p:cNvPr id="70" name="任意多边形: 形状 69"/>
              <p:cNvSpPr/>
              <p:nvPr/>
            </p:nvSpPr>
            <p:spPr>
              <a:xfrm>
                <a:off x="84692" y="774873"/>
                <a:ext cx="6064178" cy="1157441"/>
              </a:xfrm>
              <a:custGeom>
                <a:avLst/>
                <a:gdLst>
                  <a:gd name="connsiteX0" fmla="*/ 233732 w 6064178"/>
                  <a:gd name="connsiteY0" fmla="*/ 0 h 768916"/>
                  <a:gd name="connsiteX1" fmla="*/ 5830446 w 6064178"/>
                  <a:gd name="connsiteY1" fmla="*/ 0 h 768916"/>
                  <a:gd name="connsiteX2" fmla="*/ 6064178 w 6064178"/>
                  <a:gd name="connsiteY2" fmla="*/ 233732 h 768916"/>
                  <a:gd name="connsiteX3" fmla="*/ 6064178 w 6064178"/>
                  <a:gd name="connsiteY3" fmla="*/ 768916 h 768916"/>
                  <a:gd name="connsiteX4" fmla="*/ 0 w 6064178"/>
                  <a:gd name="connsiteY4" fmla="*/ 768916 h 768916"/>
                  <a:gd name="connsiteX5" fmla="*/ 0 w 6064178"/>
                  <a:gd name="connsiteY5" fmla="*/ 233732 h 768916"/>
                  <a:gd name="connsiteX6" fmla="*/ 233732 w 6064178"/>
                  <a:gd name="connsiteY6" fmla="*/ 0 h 7689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64178" h="768916">
                    <a:moveTo>
                      <a:pt x="233732" y="0"/>
                    </a:moveTo>
                    <a:lnTo>
                      <a:pt x="5830446" y="0"/>
                    </a:lnTo>
                    <a:cubicBezTo>
                      <a:pt x="5959533" y="0"/>
                      <a:pt x="6064178" y="104645"/>
                      <a:pt x="6064178" y="233732"/>
                    </a:cubicBezTo>
                    <a:lnTo>
                      <a:pt x="6064178" y="768916"/>
                    </a:lnTo>
                    <a:lnTo>
                      <a:pt x="0" y="768916"/>
                    </a:lnTo>
                    <a:lnTo>
                      <a:pt x="0" y="233732"/>
                    </a:lnTo>
                    <a:cubicBezTo>
                      <a:pt x="0" y="104645"/>
                      <a:pt x="104645" y="0"/>
                      <a:pt x="233732" y="0"/>
                    </a:cubicBezTo>
                    <a:close/>
                  </a:path>
                </a:pathLst>
              </a:custGeom>
              <a:solidFill>
                <a:srgbClr val="C8161E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矩形: 圆角 70"/>
              <p:cNvSpPr/>
              <p:nvPr/>
            </p:nvSpPr>
            <p:spPr>
              <a:xfrm>
                <a:off x="95126" y="773466"/>
                <a:ext cx="6064178" cy="5567699"/>
              </a:xfrm>
              <a:prstGeom prst="roundRect">
                <a:avLst>
                  <a:gd name="adj" fmla="val 4198"/>
                </a:avLst>
              </a:prstGeom>
              <a:noFill/>
              <a:ln w="381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9" name="文本框 68"/>
            <p:cNvSpPr txBox="1"/>
            <p:nvPr/>
          </p:nvSpPr>
          <p:spPr>
            <a:xfrm>
              <a:off x="1128183" y="773466"/>
              <a:ext cx="4016387" cy="13661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</a:rPr>
                <a:t>单环控制速度</a:t>
              </a:r>
            </a:p>
          </p:txBody>
        </p:sp>
      </p:grpSp>
      <p:sp>
        <p:nvSpPr>
          <p:cNvPr id="72" name="矩形: 圆角 71"/>
          <p:cNvSpPr/>
          <p:nvPr/>
        </p:nvSpPr>
        <p:spPr>
          <a:xfrm>
            <a:off x="6687930" y="3206337"/>
            <a:ext cx="1244985" cy="4682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/>
              <a:t>PID</a:t>
            </a:r>
            <a:endParaRPr lang="zh-CN" altLang="en-US" sz="1600" b="1" dirty="0"/>
          </a:p>
        </p:txBody>
      </p:sp>
      <p:sp>
        <p:nvSpPr>
          <p:cNvPr id="73" name="文本框 72"/>
          <p:cNvSpPr txBox="1"/>
          <p:nvPr/>
        </p:nvSpPr>
        <p:spPr>
          <a:xfrm>
            <a:off x="5390170" y="3061748"/>
            <a:ext cx="1159756" cy="377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b="1" dirty="0"/>
              <a:t>速度误差</a:t>
            </a:r>
            <a:endParaRPr lang="en-US" altLang="zh-CN" sz="1400" b="1" dirty="0"/>
          </a:p>
        </p:txBody>
      </p:sp>
      <p:sp>
        <p:nvSpPr>
          <p:cNvPr id="74" name="文本框 73"/>
          <p:cNvSpPr txBox="1"/>
          <p:nvPr/>
        </p:nvSpPr>
        <p:spPr>
          <a:xfrm>
            <a:off x="8246177" y="3059048"/>
            <a:ext cx="882711" cy="377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b="1" dirty="0"/>
              <a:t>期望力</a:t>
            </a:r>
            <a:endParaRPr lang="en-US" altLang="zh-CN" sz="1400" b="1" dirty="0"/>
          </a:p>
        </p:txBody>
      </p:sp>
      <p:grpSp>
        <p:nvGrpSpPr>
          <p:cNvPr id="75" name="组合 74"/>
          <p:cNvGrpSpPr/>
          <p:nvPr/>
        </p:nvGrpSpPr>
        <p:grpSpPr>
          <a:xfrm>
            <a:off x="5333173" y="4145543"/>
            <a:ext cx="3917988" cy="2210709"/>
            <a:chOff x="84692" y="711591"/>
            <a:chExt cx="6074612" cy="5629574"/>
          </a:xfrm>
        </p:grpSpPr>
        <p:grpSp>
          <p:nvGrpSpPr>
            <p:cNvPr id="76" name="组合 75"/>
            <p:cNvGrpSpPr/>
            <p:nvPr/>
          </p:nvGrpSpPr>
          <p:grpSpPr>
            <a:xfrm>
              <a:off x="84692" y="773466"/>
              <a:ext cx="6074612" cy="5567699"/>
              <a:chOff x="84692" y="773466"/>
              <a:chExt cx="6074612" cy="5567699"/>
            </a:xfrm>
          </p:grpSpPr>
          <p:sp>
            <p:nvSpPr>
              <p:cNvPr id="78" name="任意多边形: 形状 77"/>
              <p:cNvSpPr/>
              <p:nvPr/>
            </p:nvSpPr>
            <p:spPr>
              <a:xfrm>
                <a:off x="84692" y="774874"/>
                <a:ext cx="6064178" cy="863198"/>
              </a:xfrm>
              <a:custGeom>
                <a:avLst/>
                <a:gdLst>
                  <a:gd name="connsiteX0" fmla="*/ 233732 w 6064178"/>
                  <a:gd name="connsiteY0" fmla="*/ 0 h 768916"/>
                  <a:gd name="connsiteX1" fmla="*/ 5830446 w 6064178"/>
                  <a:gd name="connsiteY1" fmla="*/ 0 h 768916"/>
                  <a:gd name="connsiteX2" fmla="*/ 6064178 w 6064178"/>
                  <a:gd name="connsiteY2" fmla="*/ 233732 h 768916"/>
                  <a:gd name="connsiteX3" fmla="*/ 6064178 w 6064178"/>
                  <a:gd name="connsiteY3" fmla="*/ 768916 h 768916"/>
                  <a:gd name="connsiteX4" fmla="*/ 0 w 6064178"/>
                  <a:gd name="connsiteY4" fmla="*/ 768916 h 768916"/>
                  <a:gd name="connsiteX5" fmla="*/ 0 w 6064178"/>
                  <a:gd name="connsiteY5" fmla="*/ 233732 h 768916"/>
                  <a:gd name="connsiteX6" fmla="*/ 233732 w 6064178"/>
                  <a:gd name="connsiteY6" fmla="*/ 0 h 7689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64178" h="768916">
                    <a:moveTo>
                      <a:pt x="233732" y="0"/>
                    </a:moveTo>
                    <a:lnTo>
                      <a:pt x="5830446" y="0"/>
                    </a:lnTo>
                    <a:cubicBezTo>
                      <a:pt x="5959533" y="0"/>
                      <a:pt x="6064178" y="104645"/>
                      <a:pt x="6064178" y="233732"/>
                    </a:cubicBezTo>
                    <a:lnTo>
                      <a:pt x="6064178" y="768916"/>
                    </a:lnTo>
                    <a:lnTo>
                      <a:pt x="0" y="768916"/>
                    </a:lnTo>
                    <a:lnTo>
                      <a:pt x="0" y="233732"/>
                    </a:lnTo>
                    <a:cubicBezTo>
                      <a:pt x="0" y="104645"/>
                      <a:pt x="104645" y="0"/>
                      <a:pt x="233732" y="0"/>
                    </a:cubicBezTo>
                    <a:close/>
                  </a:path>
                </a:pathLst>
              </a:custGeom>
              <a:solidFill>
                <a:srgbClr val="C8161E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矩形: 圆角 78"/>
              <p:cNvSpPr/>
              <p:nvPr/>
            </p:nvSpPr>
            <p:spPr>
              <a:xfrm>
                <a:off x="95126" y="773466"/>
                <a:ext cx="6064178" cy="5567699"/>
              </a:xfrm>
              <a:prstGeom prst="roundRect">
                <a:avLst>
                  <a:gd name="adj" fmla="val 4198"/>
                </a:avLst>
              </a:prstGeom>
              <a:noFill/>
              <a:ln w="381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7" name="文本框 76"/>
            <p:cNvSpPr txBox="1"/>
            <p:nvPr/>
          </p:nvSpPr>
          <p:spPr>
            <a:xfrm>
              <a:off x="1142110" y="711591"/>
              <a:ext cx="4016387" cy="13661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</a:rPr>
                <a:t>模型前馈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矩形: 圆角 79"/>
              <p:cNvSpPr/>
              <p:nvPr/>
            </p:nvSpPr>
            <p:spPr>
              <a:xfrm>
                <a:off x="6656419" y="4589181"/>
                <a:ext cx="1244985" cy="468243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lang="zh-CN" altLang="zh-CN" sz="1600" b="1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en-US" altLang="zh-CN" sz="1600" b="1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𝒈</m:t>
                          </m:r>
                        </m:e>
                        <m:lim>
                          <m:r>
                            <a:rPr lang="en-US" altLang="zh-CN" sz="1600" b="1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^</m:t>
                          </m:r>
                        </m:lim>
                      </m:limUpp>
                      <m:r>
                        <a:rPr lang="en-US" altLang="zh-CN" sz="1600" b="1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</m:t>
                      </m:r>
                      <m:r>
                        <a:rPr lang="en-US" altLang="zh-CN" sz="1600" b="1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𝜼</m:t>
                      </m:r>
                      <m:r>
                        <a:rPr lang="en-US" altLang="zh-CN" sz="1600" b="1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)</m:t>
                      </m:r>
                    </m:oMath>
                  </m:oMathPara>
                </a14:m>
                <a:endParaRPr lang="zh-CN" altLang="en-US" sz="1600" b="1" dirty="0"/>
              </a:p>
            </p:txBody>
          </p:sp>
        </mc:Choice>
        <mc:Fallback xmlns="">
          <p:sp>
            <p:nvSpPr>
              <p:cNvPr id="80" name="矩形: 圆角 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6419" y="4589181"/>
                <a:ext cx="1244985" cy="468243"/>
              </a:xfrm>
              <a:prstGeom prst="roundRect">
                <a:avLst/>
              </a:prstGeom>
              <a:blipFill rotWithShape="1">
                <a:blip r:embed="rId3"/>
                <a:stretch>
                  <a:fillRect l="-538" t="-1364" r="-502" b="-1295"/>
                </a:stretch>
              </a:blip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矩形: 圆角 80"/>
              <p:cNvSpPr/>
              <p:nvPr/>
            </p:nvSpPr>
            <p:spPr>
              <a:xfrm>
                <a:off x="6649689" y="5194007"/>
                <a:ext cx="1244985" cy="468243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lang="zh-CN" altLang="zh-CN" sz="1600" b="1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en-US" altLang="zh-CN" sz="1600" b="1" i="1" kern="10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𝑫</m:t>
                          </m:r>
                        </m:e>
                        <m:lim>
                          <m:r>
                            <a:rPr lang="en-US" altLang="zh-CN" sz="1600" b="1" i="1" kern="10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^</m:t>
                          </m:r>
                        </m:lim>
                      </m:limUpp>
                      <m:r>
                        <a:rPr lang="en-US" altLang="zh-CN" sz="1600" b="1" i="1" kern="10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𝝂</m:t>
                      </m:r>
                    </m:oMath>
                  </m:oMathPara>
                </a14:m>
                <a:endParaRPr lang="zh-CN" altLang="en-US" sz="1600" b="1" dirty="0"/>
              </a:p>
            </p:txBody>
          </p:sp>
        </mc:Choice>
        <mc:Fallback xmlns="">
          <p:sp>
            <p:nvSpPr>
              <p:cNvPr id="81" name="矩形: 圆角 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9689" y="5194007"/>
                <a:ext cx="1244985" cy="468243"/>
              </a:xfrm>
              <a:prstGeom prst="roundRect">
                <a:avLst/>
              </a:prstGeom>
              <a:blipFill rotWithShape="1">
                <a:blip r:embed="rId4"/>
                <a:stretch>
                  <a:fillRect l="-559" t="-1429" r="-482" b="-1230"/>
                </a:stretch>
              </a:blip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矩形: 圆角 81"/>
              <p:cNvSpPr/>
              <p:nvPr/>
            </p:nvSpPr>
            <p:spPr>
              <a:xfrm>
                <a:off x="6669674" y="5779730"/>
                <a:ext cx="1244985" cy="468243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lang="zh-CN" altLang="zh-CN" b="1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en-US" altLang="zh-CN" b="1" i="1" kern="10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𝑴</m:t>
                          </m:r>
                        </m:e>
                        <m:lim>
                          <m:r>
                            <a:rPr lang="en-US" altLang="zh-CN" b="1" i="1" kern="10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^</m:t>
                          </m:r>
                        </m:lim>
                      </m:limUpp>
                      <m:limUpp>
                        <m:limUp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𝜈</m:t>
                          </m:r>
                        </m:e>
                        <m:li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˙</m:t>
                          </m:r>
                        </m:lim>
                      </m:limUpp>
                    </m:oMath>
                  </m:oMathPara>
                </a14:m>
                <a:endParaRPr lang="zh-CN" altLang="en-US" sz="1600" b="1" dirty="0"/>
              </a:p>
            </p:txBody>
          </p:sp>
        </mc:Choice>
        <mc:Fallback xmlns="">
          <p:sp>
            <p:nvSpPr>
              <p:cNvPr id="82" name="矩形: 圆角 8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9674" y="5779730"/>
                <a:ext cx="1244985" cy="468243"/>
              </a:xfrm>
              <a:prstGeom prst="roundRect">
                <a:avLst/>
              </a:prstGeom>
              <a:blipFill rotWithShape="1">
                <a:blip r:embed="rId5"/>
                <a:stretch>
                  <a:fillRect l="-532" t="-1483" r="-509" b="-1312"/>
                </a:stretch>
              </a:blip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矩形: 圆角 83"/>
          <p:cNvSpPr/>
          <p:nvPr/>
        </p:nvSpPr>
        <p:spPr>
          <a:xfrm>
            <a:off x="3618261" y="1969344"/>
            <a:ext cx="1151729" cy="7738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/>
              <a:t>期望姿态与速度</a:t>
            </a:r>
          </a:p>
        </p:txBody>
      </p:sp>
      <p:cxnSp>
        <p:nvCxnSpPr>
          <p:cNvPr id="85" name="连接符: 肘形 84"/>
          <p:cNvCxnSpPr>
            <a:stCxn id="27" idx="2"/>
            <a:endCxn id="81" idx="1"/>
          </p:cNvCxnSpPr>
          <p:nvPr/>
        </p:nvCxnSpPr>
        <p:spPr>
          <a:xfrm rot="16200000" flipH="1">
            <a:off x="5140610" y="3919049"/>
            <a:ext cx="560191" cy="2457968"/>
          </a:xfrm>
          <a:prstGeom prst="bentConnector2">
            <a:avLst/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组合 91"/>
          <p:cNvGrpSpPr/>
          <p:nvPr/>
        </p:nvGrpSpPr>
        <p:grpSpPr>
          <a:xfrm>
            <a:off x="3894965" y="3033211"/>
            <a:ext cx="593633" cy="707280"/>
            <a:chOff x="3846595" y="3104402"/>
            <a:chExt cx="593633" cy="707280"/>
          </a:xfrm>
        </p:grpSpPr>
        <p:sp>
          <p:nvSpPr>
            <p:cNvPr id="89" name="椭圆 88"/>
            <p:cNvSpPr/>
            <p:nvPr/>
          </p:nvSpPr>
          <p:spPr>
            <a:xfrm>
              <a:off x="3846595" y="3139346"/>
              <a:ext cx="593633" cy="593633"/>
            </a:xfrm>
            <a:prstGeom prst="ellipse">
              <a:avLst/>
            </a:prstGeom>
            <a:noFill/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文本框 89"/>
            <p:cNvSpPr txBox="1"/>
            <p:nvPr/>
          </p:nvSpPr>
          <p:spPr>
            <a:xfrm>
              <a:off x="3936072" y="3104402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/>
                <a:t>＋</a:t>
              </a:r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3908852" y="3350017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/>
                <a:t>－</a:t>
              </a:r>
            </a:p>
          </p:txBody>
        </p:sp>
      </p:grpSp>
      <p:cxnSp>
        <p:nvCxnSpPr>
          <p:cNvPr id="111" name="连接符: 肘形 110"/>
          <p:cNvCxnSpPr/>
          <p:nvPr/>
        </p:nvCxnSpPr>
        <p:spPr>
          <a:xfrm rot="5400000" flipH="1" flipV="1">
            <a:off x="4563022" y="2099170"/>
            <a:ext cx="1609728" cy="921874"/>
          </a:xfrm>
          <a:prstGeom prst="bentConnector3">
            <a:avLst>
              <a:gd name="adj1" fmla="val 100177"/>
            </a:avLst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连接符: 肘形 129"/>
          <p:cNvCxnSpPr>
            <a:stCxn id="89" idx="6"/>
            <a:endCxn id="72" idx="1"/>
          </p:cNvCxnSpPr>
          <p:nvPr/>
        </p:nvCxnSpPr>
        <p:spPr>
          <a:xfrm>
            <a:off x="4488598" y="3364972"/>
            <a:ext cx="2199332" cy="75487"/>
          </a:xfrm>
          <a:prstGeom prst="bentConnector3">
            <a:avLst>
              <a:gd name="adj1" fmla="val 18818"/>
            </a:avLst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箭头连接符 135"/>
          <p:cNvCxnSpPr/>
          <p:nvPr/>
        </p:nvCxnSpPr>
        <p:spPr>
          <a:xfrm>
            <a:off x="7266078" y="1764376"/>
            <a:ext cx="655391" cy="11250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连接符: 肘形 144"/>
          <p:cNvCxnSpPr>
            <a:endCxn id="80" idx="1"/>
          </p:cNvCxnSpPr>
          <p:nvPr/>
        </p:nvCxnSpPr>
        <p:spPr>
          <a:xfrm flipV="1">
            <a:off x="5661663" y="4823303"/>
            <a:ext cx="994756" cy="612994"/>
          </a:xfrm>
          <a:prstGeom prst="bentConnector3">
            <a:avLst>
              <a:gd name="adj1" fmla="val -1323"/>
            </a:avLst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连接符: 肘形 148"/>
          <p:cNvCxnSpPr>
            <a:endCxn id="82" idx="1"/>
          </p:cNvCxnSpPr>
          <p:nvPr/>
        </p:nvCxnSpPr>
        <p:spPr>
          <a:xfrm>
            <a:off x="5654933" y="5436297"/>
            <a:ext cx="1014741" cy="577555"/>
          </a:xfrm>
          <a:prstGeom prst="bentConnector3">
            <a:avLst>
              <a:gd name="adj1" fmla="val -312"/>
            </a:avLst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文本框 152"/>
          <p:cNvSpPr txBox="1"/>
          <p:nvPr/>
        </p:nvSpPr>
        <p:spPr>
          <a:xfrm>
            <a:off x="5556361" y="4462898"/>
            <a:ext cx="1159756" cy="377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b="1" dirty="0"/>
              <a:t>姿态</a:t>
            </a:r>
            <a:endParaRPr lang="en-US" altLang="zh-CN" sz="1400" b="1" dirty="0"/>
          </a:p>
        </p:txBody>
      </p:sp>
      <p:sp>
        <p:nvSpPr>
          <p:cNvPr id="154" name="文本框 153"/>
          <p:cNvSpPr txBox="1"/>
          <p:nvPr/>
        </p:nvSpPr>
        <p:spPr>
          <a:xfrm>
            <a:off x="5579163" y="5057424"/>
            <a:ext cx="1159756" cy="377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b="1" dirty="0"/>
              <a:t>速度</a:t>
            </a:r>
            <a:endParaRPr lang="en-US" altLang="zh-CN" sz="1400" b="1" dirty="0"/>
          </a:p>
        </p:txBody>
      </p:sp>
      <p:sp>
        <p:nvSpPr>
          <p:cNvPr id="155" name="文本框 154"/>
          <p:cNvSpPr txBox="1"/>
          <p:nvPr/>
        </p:nvSpPr>
        <p:spPr>
          <a:xfrm>
            <a:off x="5592610" y="5644455"/>
            <a:ext cx="1159756" cy="377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b="1" dirty="0"/>
              <a:t>加速度</a:t>
            </a:r>
            <a:endParaRPr lang="en-US" altLang="zh-CN" sz="1400" b="1" dirty="0"/>
          </a:p>
        </p:txBody>
      </p:sp>
      <p:grpSp>
        <p:nvGrpSpPr>
          <p:cNvPr id="158" name="组合 157"/>
          <p:cNvGrpSpPr/>
          <p:nvPr/>
        </p:nvGrpSpPr>
        <p:grpSpPr>
          <a:xfrm>
            <a:off x="8317356" y="5120696"/>
            <a:ext cx="593633" cy="593633"/>
            <a:chOff x="3838975" y="3139346"/>
            <a:chExt cx="593633" cy="593633"/>
          </a:xfrm>
        </p:grpSpPr>
        <p:sp>
          <p:nvSpPr>
            <p:cNvPr id="159" name="椭圆 158"/>
            <p:cNvSpPr/>
            <p:nvPr/>
          </p:nvSpPr>
          <p:spPr>
            <a:xfrm>
              <a:off x="3838975" y="3139346"/>
              <a:ext cx="593633" cy="593633"/>
            </a:xfrm>
            <a:prstGeom prst="ellipse">
              <a:avLst/>
            </a:prstGeom>
            <a:noFill/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0" name="文本框 159"/>
            <p:cNvSpPr txBox="1"/>
            <p:nvPr/>
          </p:nvSpPr>
          <p:spPr>
            <a:xfrm>
              <a:off x="3922839" y="3235516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/>
                <a:t>＋</a:t>
              </a:r>
            </a:p>
          </p:txBody>
        </p:sp>
      </p:grpSp>
      <p:cxnSp>
        <p:nvCxnSpPr>
          <p:cNvPr id="162" name="直接箭头连接符 161"/>
          <p:cNvCxnSpPr>
            <a:stCxn id="81" idx="3"/>
          </p:cNvCxnSpPr>
          <p:nvPr/>
        </p:nvCxnSpPr>
        <p:spPr>
          <a:xfrm>
            <a:off x="7894674" y="5428129"/>
            <a:ext cx="415952" cy="8168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连接符: 肘形 165"/>
          <p:cNvCxnSpPr>
            <a:stCxn id="80" idx="3"/>
            <a:endCxn id="159" idx="0"/>
          </p:cNvCxnSpPr>
          <p:nvPr/>
        </p:nvCxnSpPr>
        <p:spPr>
          <a:xfrm>
            <a:off x="7901404" y="4823303"/>
            <a:ext cx="712769" cy="297393"/>
          </a:xfrm>
          <a:prstGeom prst="bentConnector2">
            <a:avLst/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连接符: 肘形 169"/>
          <p:cNvCxnSpPr>
            <a:stCxn id="82" idx="3"/>
            <a:endCxn id="159" idx="4"/>
          </p:cNvCxnSpPr>
          <p:nvPr/>
        </p:nvCxnSpPr>
        <p:spPr>
          <a:xfrm flipV="1">
            <a:off x="7914659" y="5714329"/>
            <a:ext cx="699514" cy="299523"/>
          </a:xfrm>
          <a:prstGeom prst="bentConnector2">
            <a:avLst/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组合 172"/>
          <p:cNvGrpSpPr/>
          <p:nvPr/>
        </p:nvGrpSpPr>
        <p:grpSpPr>
          <a:xfrm>
            <a:off x="9629166" y="3139257"/>
            <a:ext cx="593633" cy="593633"/>
            <a:chOff x="3838975" y="3139346"/>
            <a:chExt cx="593633" cy="593633"/>
          </a:xfrm>
        </p:grpSpPr>
        <p:sp>
          <p:nvSpPr>
            <p:cNvPr id="174" name="椭圆 173"/>
            <p:cNvSpPr/>
            <p:nvPr/>
          </p:nvSpPr>
          <p:spPr>
            <a:xfrm>
              <a:off x="3838975" y="3139346"/>
              <a:ext cx="593633" cy="593633"/>
            </a:xfrm>
            <a:prstGeom prst="ellipse">
              <a:avLst/>
            </a:prstGeom>
            <a:noFill/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5" name="文本框 174"/>
            <p:cNvSpPr txBox="1"/>
            <p:nvPr/>
          </p:nvSpPr>
          <p:spPr>
            <a:xfrm>
              <a:off x="3922839" y="3235516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/>
                <a:t>＋</a:t>
              </a:r>
            </a:p>
          </p:txBody>
        </p:sp>
      </p:grpSp>
      <p:cxnSp>
        <p:nvCxnSpPr>
          <p:cNvPr id="176" name="直接箭头连接符 175"/>
          <p:cNvCxnSpPr>
            <a:stCxn id="72" idx="3"/>
            <a:endCxn id="174" idx="2"/>
          </p:cNvCxnSpPr>
          <p:nvPr/>
        </p:nvCxnSpPr>
        <p:spPr>
          <a:xfrm flipV="1">
            <a:off x="7932915" y="3436074"/>
            <a:ext cx="1696251" cy="4385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连接符: 肘形 178"/>
          <p:cNvCxnSpPr>
            <a:stCxn id="159" idx="6"/>
            <a:endCxn id="174" idx="4"/>
          </p:cNvCxnSpPr>
          <p:nvPr/>
        </p:nvCxnSpPr>
        <p:spPr>
          <a:xfrm flipV="1">
            <a:off x="8910989" y="3732890"/>
            <a:ext cx="1014994" cy="1684623"/>
          </a:xfrm>
          <a:prstGeom prst="bentConnector2">
            <a:avLst/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连接符: 肘形 182"/>
          <p:cNvCxnSpPr>
            <a:endCxn id="174" idx="0"/>
          </p:cNvCxnSpPr>
          <p:nvPr/>
        </p:nvCxnSpPr>
        <p:spPr>
          <a:xfrm rot="16200000" flipH="1">
            <a:off x="8571205" y="1784479"/>
            <a:ext cx="1363632" cy="1345923"/>
          </a:xfrm>
          <a:prstGeom prst="bentConnector3">
            <a:avLst>
              <a:gd name="adj1" fmla="val -292"/>
            </a:avLst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文本框 186"/>
          <p:cNvSpPr txBox="1"/>
          <p:nvPr/>
        </p:nvSpPr>
        <p:spPr>
          <a:xfrm>
            <a:off x="9132929" y="5022985"/>
            <a:ext cx="882711" cy="700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b="1" dirty="0"/>
              <a:t>前馈力与力矩</a:t>
            </a:r>
            <a:endParaRPr lang="en-US" altLang="zh-CN" sz="1400" b="1" dirty="0"/>
          </a:p>
        </p:txBody>
      </p:sp>
      <p:cxnSp>
        <p:nvCxnSpPr>
          <p:cNvPr id="188" name="直接连接符 187"/>
          <p:cNvCxnSpPr/>
          <p:nvPr/>
        </p:nvCxnSpPr>
        <p:spPr>
          <a:xfrm>
            <a:off x="3395663" y="762000"/>
            <a:ext cx="0" cy="560070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接箭头连接符 189"/>
          <p:cNvCxnSpPr/>
          <p:nvPr/>
        </p:nvCxnSpPr>
        <p:spPr>
          <a:xfrm flipV="1">
            <a:off x="10238040" y="3439868"/>
            <a:ext cx="587099" cy="1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矩形: 圆角 192"/>
          <p:cNvSpPr/>
          <p:nvPr/>
        </p:nvSpPr>
        <p:spPr>
          <a:xfrm>
            <a:off x="10840380" y="3153117"/>
            <a:ext cx="1244985" cy="5797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/>
              <a:t>推进器</a:t>
            </a:r>
            <a:endParaRPr lang="en-US" altLang="zh-CN" sz="1600" b="1" dirty="0"/>
          </a:p>
          <a:p>
            <a:pPr algn="ctr"/>
            <a:r>
              <a:rPr lang="zh-CN" altLang="en-US" sz="1600" b="1" dirty="0"/>
              <a:t>推力分配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6" name="文本框 1065"/>
              <p:cNvSpPr txBox="1"/>
              <p:nvPr/>
            </p:nvSpPr>
            <p:spPr>
              <a:xfrm>
                <a:off x="10119197" y="3021671"/>
                <a:ext cx="7818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b="1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800" b="1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𝝉</m:t>
                          </m:r>
                        </m:e>
                        <m:sub>
                          <m:r>
                            <a:rPr lang="en-US" altLang="zh-CN" sz="1800" b="1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𝒕𝒐𝒕𝒂𝒍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1066" name="文本框 10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9197" y="3021671"/>
                <a:ext cx="781881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60" t="-92" r="4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71" name="组合 1070"/>
          <p:cNvGrpSpPr/>
          <p:nvPr/>
        </p:nvGrpSpPr>
        <p:grpSpPr>
          <a:xfrm>
            <a:off x="10174212" y="804558"/>
            <a:ext cx="1918096" cy="1788903"/>
            <a:chOff x="10130569" y="811768"/>
            <a:chExt cx="1918096" cy="1788903"/>
          </a:xfrm>
        </p:grpSpPr>
        <p:pic>
          <p:nvPicPr>
            <p:cNvPr id="1068" name="图片 1067"/>
            <p:cNvPicPr>
              <a:picLocks noChangeAspect="1"/>
            </p:cNvPicPr>
            <p:nvPr/>
          </p:nvPicPr>
          <p:blipFill>
            <a:blip r:embed="rId7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30569" y="1181100"/>
              <a:ext cx="1855819" cy="1408421"/>
            </a:xfrm>
            <a:prstGeom prst="rect">
              <a:avLst/>
            </a:prstGeom>
          </p:spPr>
        </p:pic>
        <p:sp>
          <p:nvSpPr>
            <p:cNvPr id="1069" name="矩形: 圆角 1068"/>
            <p:cNvSpPr/>
            <p:nvPr/>
          </p:nvSpPr>
          <p:spPr>
            <a:xfrm>
              <a:off x="10134668" y="811768"/>
              <a:ext cx="1913997" cy="1788903"/>
            </a:xfrm>
            <a:prstGeom prst="roundRect">
              <a:avLst/>
            </a:prstGeom>
            <a:noFill/>
            <a:ln w="2857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0" name="文本框 1069"/>
            <p:cNvSpPr txBox="1"/>
            <p:nvPr/>
          </p:nvSpPr>
          <p:spPr>
            <a:xfrm>
              <a:off x="10422252" y="811768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800" b="1" dirty="0"/>
                <a:t>开方根函数</a:t>
              </a:r>
            </a:p>
          </p:txBody>
        </p:sp>
      </p:grpSp>
      <p:cxnSp>
        <p:nvCxnSpPr>
          <p:cNvPr id="1073" name="连接符: 曲线 1072"/>
          <p:cNvCxnSpPr>
            <a:stCxn id="56" idx="0"/>
          </p:cNvCxnSpPr>
          <p:nvPr/>
        </p:nvCxnSpPr>
        <p:spPr>
          <a:xfrm rot="5400000" flipH="1" flipV="1">
            <a:off x="8174384" y="-458670"/>
            <a:ext cx="355334" cy="3604250"/>
          </a:xfrm>
          <a:prstGeom prst="curvedConnector2">
            <a:avLst/>
          </a:prstGeom>
          <a:ln w="19050">
            <a:solidFill>
              <a:schemeClr val="tx2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控制算法设计</a:t>
            </a:r>
            <a:r>
              <a:rPr lang="en-US" altLang="zh-CN" dirty="0"/>
              <a:t>-</a:t>
            </a:r>
            <a:r>
              <a:rPr lang="zh-CN" altLang="en-US" dirty="0"/>
              <a:t>推力分配</a:t>
            </a:r>
          </a:p>
        </p:txBody>
      </p:sp>
      <p:pic>
        <p:nvPicPr>
          <p:cNvPr id="4" name="图片 3" descr="电脑游戏的截图&#10;&#10;AI 生成的内容可能不正确。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497" y="1146056"/>
            <a:ext cx="5337810" cy="2467610"/>
          </a:xfrm>
          <a:prstGeom prst="rect">
            <a:avLst/>
          </a:prstGeom>
        </p:spPr>
      </p:pic>
      <p:grpSp>
        <p:nvGrpSpPr>
          <p:cNvPr id="60" name="组合 59"/>
          <p:cNvGrpSpPr/>
          <p:nvPr/>
        </p:nvGrpSpPr>
        <p:grpSpPr>
          <a:xfrm>
            <a:off x="90116" y="3883034"/>
            <a:ext cx="6123236" cy="1039734"/>
            <a:chOff x="71021" y="3798332"/>
            <a:chExt cx="6123236" cy="1039734"/>
          </a:xfrm>
        </p:grpSpPr>
        <p:sp>
          <p:nvSpPr>
            <p:cNvPr id="9" name="文本框 8"/>
            <p:cNvSpPr txBox="1"/>
            <p:nvPr/>
          </p:nvSpPr>
          <p:spPr>
            <a:xfrm>
              <a:off x="71021" y="3848837"/>
              <a:ext cx="1562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/>
                <a:t>坐标：</a:t>
              </a:r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9120" y="3798332"/>
              <a:ext cx="5615137" cy="1039734"/>
            </a:xfrm>
            <a:prstGeom prst="rect">
              <a:avLst/>
            </a:prstGeom>
          </p:spPr>
        </p:pic>
      </p:grpSp>
      <p:grpSp>
        <p:nvGrpSpPr>
          <p:cNvPr id="19" name="组合 18"/>
          <p:cNvGrpSpPr/>
          <p:nvPr/>
        </p:nvGrpSpPr>
        <p:grpSpPr>
          <a:xfrm>
            <a:off x="590595" y="6057478"/>
            <a:ext cx="2038305" cy="284614"/>
            <a:chOff x="5314950" y="5160744"/>
            <a:chExt cx="3309794" cy="462155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14950" y="5160744"/>
              <a:ext cx="1562100" cy="456924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2644" y="5160744"/>
              <a:ext cx="1562100" cy="462155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/>
              <p:cNvSpPr txBox="1"/>
              <p:nvPr/>
            </p:nvSpPr>
            <p:spPr>
              <a:xfrm>
                <a:off x="6470965" y="1249112"/>
                <a:ext cx="4114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zh-CN" sz="1400" b="1" kern="100" dirty="0">
                    <a:effectLst/>
                    <a:latin typeface="+mn-ea"/>
                    <a:cs typeface="Times New Roman" panose="02020603050405020304" pitchFamily="18" charset="0"/>
                  </a:rPr>
                  <a:t>电机</a:t>
                </a:r>
                <a14:m>
                  <m:oMath xmlns:m="http://schemas.openxmlformats.org/officeDocument/2006/math">
                    <m:r>
                      <a:rPr lang="en-US" altLang="zh-CN" sz="1400" b="1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𝒊</m:t>
                    </m:r>
                  </m:oMath>
                </a14:m>
                <a:r>
                  <a:rPr lang="zh-CN" altLang="zh-CN" sz="1400" b="1" kern="100" dirty="0">
                    <a:effectLst/>
                    <a:latin typeface="+mn-ea"/>
                    <a:cs typeface="Times New Roman" panose="02020603050405020304" pitchFamily="18" charset="0"/>
                  </a:rPr>
                  <a:t>对六维力矩的贡献为：</a:t>
                </a:r>
                <a:endParaRPr lang="zh-CN" altLang="en-US" sz="1400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0965" y="1249112"/>
                <a:ext cx="4114800" cy="307777"/>
              </a:xfrm>
              <a:prstGeom prst="rect">
                <a:avLst/>
              </a:prstGeom>
              <a:blipFill rotWithShape="1">
                <a:blip r:embed="rId6"/>
                <a:stretch>
                  <a:fillRect l="-8" t="-22" r="8" b="1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9" name="组合 58"/>
          <p:cNvGrpSpPr/>
          <p:nvPr/>
        </p:nvGrpSpPr>
        <p:grpSpPr>
          <a:xfrm>
            <a:off x="90116" y="4888803"/>
            <a:ext cx="4569559" cy="1076103"/>
            <a:chOff x="71021" y="4886796"/>
            <a:chExt cx="4569559" cy="1076103"/>
          </a:xfrm>
        </p:grpSpPr>
        <p:sp>
          <p:nvSpPr>
            <p:cNvPr id="14" name="文本框 13"/>
            <p:cNvSpPr txBox="1"/>
            <p:nvPr/>
          </p:nvSpPr>
          <p:spPr>
            <a:xfrm>
              <a:off x="71021" y="4886796"/>
              <a:ext cx="1562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/>
                <a:t>朝向：</a:t>
              </a:r>
            </a:p>
          </p:txBody>
        </p:sp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9120" y="4934642"/>
              <a:ext cx="4061460" cy="1028257"/>
            </a:xfrm>
            <a:prstGeom prst="rect">
              <a:avLst/>
            </a:prstGeom>
          </p:spPr>
        </p:pic>
      </p:grpSp>
      <p:grpSp>
        <p:nvGrpSpPr>
          <p:cNvPr id="121" name="组合 120"/>
          <p:cNvGrpSpPr/>
          <p:nvPr/>
        </p:nvGrpSpPr>
        <p:grpSpPr>
          <a:xfrm>
            <a:off x="6910277" y="1480565"/>
            <a:ext cx="5552559" cy="630714"/>
            <a:chOff x="6922651" y="1371860"/>
            <a:chExt cx="5552559" cy="6307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/>
                <p:cNvSpPr txBox="1"/>
                <p:nvPr/>
              </p:nvSpPr>
              <p:spPr>
                <a:xfrm>
                  <a:off x="6922651" y="1371860"/>
                  <a:ext cx="1962771" cy="6242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i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zh-CN" altLang="en-US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&amp;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&amp;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𝑟𝑖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𝑓𝑖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2" name="文本框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22651" y="1371860"/>
                  <a:ext cx="1962771" cy="624210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/>
                <p:cNvSpPr txBox="1"/>
                <p:nvPr/>
              </p:nvSpPr>
              <p:spPr>
                <a:xfrm>
                  <a:off x="8760460" y="1376290"/>
                  <a:ext cx="197323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zh-CN" sz="14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400" b="0" i="0" kern="100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:</m:t>
                      </m:r>
                    </m:oMath>
                  </a14:m>
                  <a:r>
                    <a:rPr lang="zh-CN" altLang="en-US" sz="1400" kern="100" dirty="0">
                      <a:latin typeface="+mn-ea"/>
                      <a:cs typeface="Times New Roman" panose="02020603050405020304" pitchFamily="18" charset="0"/>
                    </a:rPr>
                    <a:t>推进器朝向单位</a:t>
                  </a:r>
                  <a:r>
                    <a:rPr lang="zh-CN" altLang="zh-CN" sz="1400" kern="100" dirty="0">
                      <a:effectLst/>
                      <a:latin typeface="+mn-ea"/>
                      <a:cs typeface="Times New Roman" panose="02020603050405020304" pitchFamily="18" charset="0"/>
                    </a:rPr>
                    <a:t>向量</a:t>
                  </a:r>
                  <a:endParaRPr lang="zh-CN" altLang="en-US" sz="1400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25" name="文本框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0460" y="1376290"/>
                  <a:ext cx="1973232" cy="307777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/>
                <p:cNvSpPr txBox="1"/>
                <p:nvPr/>
              </p:nvSpPr>
              <p:spPr>
                <a:xfrm>
                  <a:off x="8764270" y="1694797"/>
                  <a:ext cx="371094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zh-CN" sz="14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1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zh-CN" altLang="en-US" sz="1400" kern="100" dirty="0">
                      <a:effectLst/>
                      <a:latin typeface="+mn-ea"/>
                      <a:cs typeface="Times New Roman" panose="02020603050405020304" pitchFamily="18" charset="0"/>
                    </a:rPr>
                    <a:t>：</a:t>
                  </a:r>
                  <a:r>
                    <a:rPr lang="zh-CN" altLang="zh-CN" sz="1400" kern="100" dirty="0">
                      <a:effectLst/>
                      <a:latin typeface="+mn-ea"/>
                      <a:cs typeface="Times New Roman" panose="02020603050405020304" pitchFamily="18" charset="0"/>
                    </a:rPr>
                    <a:t>电机位置向量</a:t>
                  </a:r>
                  <a:endParaRPr lang="zh-CN" altLang="en-US" sz="1400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26" name="文本框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4270" y="1694797"/>
                  <a:ext cx="3710940" cy="307777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31" name="图片 30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5217" y="2384425"/>
            <a:ext cx="5830152" cy="1554228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1650" y="4545106"/>
            <a:ext cx="1472866" cy="292610"/>
          </a:xfrm>
          <a:prstGeom prst="rect">
            <a:avLst/>
          </a:prstGeom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5622" y="4880048"/>
            <a:ext cx="1929342" cy="343404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6585797" y="4534370"/>
            <a:ext cx="24416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n-ea"/>
              </a:rPr>
              <a:t>推进器推力→力矩、力：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6599956" y="4884898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n-ea"/>
              </a:rPr>
              <a:t>推力矩阵伪逆：</a:t>
            </a:r>
          </a:p>
        </p:txBody>
      </p:sp>
      <p:cxnSp>
        <p:nvCxnSpPr>
          <p:cNvPr id="49" name="直接箭头连接符 48"/>
          <p:cNvCxnSpPr/>
          <p:nvPr/>
        </p:nvCxnSpPr>
        <p:spPr>
          <a:xfrm>
            <a:off x="9026740" y="5312753"/>
            <a:ext cx="1" cy="397876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组合 132"/>
          <p:cNvGrpSpPr/>
          <p:nvPr/>
        </p:nvGrpSpPr>
        <p:grpSpPr>
          <a:xfrm>
            <a:off x="6599956" y="5762846"/>
            <a:ext cx="3549167" cy="389797"/>
            <a:chOff x="6585797" y="5601066"/>
            <a:chExt cx="3549167" cy="389797"/>
          </a:xfrm>
        </p:grpSpPr>
        <p:pic>
          <p:nvPicPr>
            <p:cNvPr id="46" name="图片 45"/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8822" y="5601066"/>
              <a:ext cx="1826142" cy="387749"/>
            </a:xfrm>
            <a:prstGeom prst="rect">
              <a:avLst/>
            </a:prstGeom>
          </p:spPr>
        </p:pic>
        <p:sp>
          <p:nvSpPr>
            <p:cNvPr id="53" name="文本框 52"/>
            <p:cNvSpPr txBox="1"/>
            <p:nvPr/>
          </p:nvSpPr>
          <p:spPr>
            <a:xfrm>
              <a:off x="6585797" y="5652309"/>
              <a:ext cx="182614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/>
                <a:t>逆解推进器推力：</a:t>
              </a: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90116" y="787212"/>
            <a:ext cx="6074612" cy="5567699"/>
            <a:chOff x="84692" y="773466"/>
            <a:chExt cx="6074612" cy="5567699"/>
          </a:xfrm>
        </p:grpSpPr>
        <p:grpSp>
          <p:nvGrpSpPr>
            <p:cNvPr id="55" name="组合 54"/>
            <p:cNvGrpSpPr/>
            <p:nvPr/>
          </p:nvGrpSpPr>
          <p:grpSpPr>
            <a:xfrm>
              <a:off x="84692" y="773466"/>
              <a:ext cx="6074612" cy="5567699"/>
              <a:chOff x="84692" y="773466"/>
              <a:chExt cx="6074612" cy="5567699"/>
            </a:xfrm>
          </p:grpSpPr>
          <p:sp>
            <p:nvSpPr>
              <p:cNvPr id="57" name="任意多边形: 形状 56"/>
              <p:cNvSpPr/>
              <p:nvPr/>
            </p:nvSpPr>
            <p:spPr>
              <a:xfrm>
                <a:off x="84692" y="774874"/>
                <a:ext cx="6064168" cy="426147"/>
              </a:xfrm>
              <a:custGeom>
                <a:avLst/>
                <a:gdLst>
                  <a:gd name="connsiteX0" fmla="*/ 233732 w 6064178"/>
                  <a:gd name="connsiteY0" fmla="*/ 0 h 768916"/>
                  <a:gd name="connsiteX1" fmla="*/ 5830446 w 6064178"/>
                  <a:gd name="connsiteY1" fmla="*/ 0 h 768916"/>
                  <a:gd name="connsiteX2" fmla="*/ 6064178 w 6064178"/>
                  <a:gd name="connsiteY2" fmla="*/ 233732 h 768916"/>
                  <a:gd name="connsiteX3" fmla="*/ 6064178 w 6064178"/>
                  <a:gd name="connsiteY3" fmla="*/ 768916 h 768916"/>
                  <a:gd name="connsiteX4" fmla="*/ 0 w 6064178"/>
                  <a:gd name="connsiteY4" fmla="*/ 768916 h 768916"/>
                  <a:gd name="connsiteX5" fmla="*/ 0 w 6064178"/>
                  <a:gd name="connsiteY5" fmla="*/ 233732 h 768916"/>
                  <a:gd name="connsiteX6" fmla="*/ 233732 w 6064178"/>
                  <a:gd name="connsiteY6" fmla="*/ 0 h 7689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64178" h="768916">
                    <a:moveTo>
                      <a:pt x="233732" y="0"/>
                    </a:moveTo>
                    <a:lnTo>
                      <a:pt x="5830446" y="0"/>
                    </a:lnTo>
                    <a:cubicBezTo>
                      <a:pt x="5959533" y="0"/>
                      <a:pt x="6064178" y="104645"/>
                      <a:pt x="6064178" y="233732"/>
                    </a:cubicBezTo>
                    <a:lnTo>
                      <a:pt x="6064178" y="768916"/>
                    </a:lnTo>
                    <a:lnTo>
                      <a:pt x="0" y="768916"/>
                    </a:lnTo>
                    <a:lnTo>
                      <a:pt x="0" y="233732"/>
                    </a:lnTo>
                    <a:cubicBezTo>
                      <a:pt x="0" y="104645"/>
                      <a:pt x="104645" y="0"/>
                      <a:pt x="233732" y="0"/>
                    </a:cubicBezTo>
                    <a:close/>
                  </a:path>
                </a:pathLst>
              </a:custGeom>
              <a:solidFill>
                <a:srgbClr val="C8161E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8" name="矩形: 圆角 57"/>
              <p:cNvSpPr/>
              <p:nvPr/>
            </p:nvSpPr>
            <p:spPr>
              <a:xfrm>
                <a:off x="95126" y="773466"/>
                <a:ext cx="6064178" cy="5567699"/>
              </a:xfrm>
              <a:prstGeom prst="roundRect">
                <a:avLst>
                  <a:gd name="adj" fmla="val 4198"/>
                </a:avLst>
              </a:prstGeom>
              <a:noFill/>
              <a:ln w="381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6" name="文本框 55"/>
            <p:cNvSpPr txBox="1"/>
            <p:nvPr/>
          </p:nvSpPr>
          <p:spPr>
            <a:xfrm>
              <a:off x="1546684" y="784866"/>
              <a:ext cx="316106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</a:rPr>
                <a:t>推进器位姿定义</a:t>
              </a:r>
            </a:p>
          </p:txBody>
        </p:sp>
      </p:grpSp>
      <p:cxnSp>
        <p:nvCxnSpPr>
          <p:cNvPr id="63" name="直接箭头连接符 62"/>
          <p:cNvCxnSpPr/>
          <p:nvPr/>
        </p:nvCxnSpPr>
        <p:spPr>
          <a:xfrm flipH="1">
            <a:off x="1986612" y="1690365"/>
            <a:ext cx="337488" cy="446944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/>
          <p:cNvSpPr txBox="1"/>
          <p:nvPr/>
        </p:nvSpPr>
        <p:spPr>
          <a:xfrm>
            <a:off x="2155356" y="1557423"/>
            <a:ext cx="1562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/>
              <a:t>垂直方向电机</a:t>
            </a:r>
          </a:p>
        </p:txBody>
      </p:sp>
      <p:cxnSp>
        <p:nvCxnSpPr>
          <p:cNvPr id="67" name="直接连接符 66"/>
          <p:cNvCxnSpPr/>
          <p:nvPr/>
        </p:nvCxnSpPr>
        <p:spPr>
          <a:xfrm>
            <a:off x="2324100" y="1703095"/>
            <a:ext cx="114300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/>
          <p:nvPr/>
        </p:nvCxnSpPr>
        <p:spPr>
          <a:xfrm flipH="1">
            <a:off x="2945462" y="1489053"/>
            <a:ext cx="666101" cy="1118844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>
            <a:off x="3584665" y="1479256"/>
            <a:ext cx="230348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文本框 78"/>
          <p:cNvSpPr txBox="1"/>
          <p:nvPr/>
        </p:nvSpPr>
        <p:spPr>
          <a:xfrm>
            <a:off x="3540692" y="1340208"/>
            <a:ext cx="1562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/>
              <a:t>水平方向电机</a:t>
            </a:r>
          </a:p>
        </p:txBody>
      </p:sp>
      <p:cxnSp>
        <p:nvCxnSpPr>
          <p:cNvPr id="81" name="直接连接符 80"/>
          <p:cNvCxnSpPr/>
          <p:nvPr/>
        </p:nvCxnSpPr>
        <p:spPr>
          <a:xfrm>
            <a:off x="1211580" y="3787140"/>
            <a:ext cx="2373085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>
            <a:off x="1211580" y="5988815"/>
            <a:ext cx="1459562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>
            <a:off x="1211580" y="3787140"/>
            <a:ext cx="0" cy="2185635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>
            <a:stCxn id="24" idx="2"/>
          </p:cNvCxnSpPr>
          <p:nvPr/>
        </p:nvCxnSpPr>
        <p:spPr>
          <a:xfrm flipH="1" flipV="1">
            <a:off x="2628900" y="4888137"/>
            <a:ext cx="45" cy="1076769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/>
        </p:nvCxnSpPr>
        <p:spPr>
          <a:xfrm flipV="1">
            <a:off x="2631015" y="4888137"/>
            <a:ext cx="881063" cy="1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/>
          <p:nvPr/>
        </p:nvCxnSpPr>
        <p:spPr>
          <a:xfrm flipV="1">
            <a:off x="3540692" y="3787142"/>
            <a:ext cx="0" cy="1100995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/>
          <p:cNvCxnSpPr/>
          <p:nvPr/>
        </p:nvCxnSpPr>
        <p:spPr>
          <a:xfrm flipV="1">
            <a:off x="3699839" y="3787142"/>
            <a:ext cx="0" cy="1100995"/>
          </a:xfrm>
          <a:prstGeom prst="line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/>
          <p:cNvCxnSpPr/>
          <p:nvPr/>
        </p:nvCxnSpPr>
        <p:spPr>
          <a:xfrm flipH="1">
            <a:off x="3717457" y="3787140"/>
            <a:ext cx="2378543" cy="0"/>
          </a:xfrm>
          <a:prstGeom prst="line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/>
          <p:cNvCxnSpPr/>
          <p:nvPr/>
        </p:nvCxnSpPr>
        <p:spPr>
          <a:xfrm flipV="1">
            <a:off x="6096000" y="3787143"/>
            <a:ext cx="0" cy="2177763"/>
          </a:xfrm>
          <a:prstGeom prst="line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/>
          <p:cNvCxnSpPr/>
          <p:nvPr/>
        </p:nvCxnSpPr>
        <p:spPr>
          <a:xfrm flipH="1">
            <a:off x="2762250" y="5964906"/>
            <a:ext cx="3276601" cy="0"/>
          </a:xfrm>
          <a:prstGeom prst="line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/>
          <p:cNvCxnSpPr/>
          <p:nvPr/>
        </p:nvCxnSpPr>
        <p:spPr>
          <a:xfrm flipV="1">
            <a:off x="2762250" y="4936649"/>
            <a:ext cx="0" cy="1021096"/>
          </a:xfrm>
          <a:prstGeom prst="line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/>
          <p:cNvCxnSpPr/>
          <p:nvPr/>
        </p:nvCxnSpPr>
        <p:spPr>
          <a:xfrm flipH="1">
            <a:off x="2724250" y="4936649"/>
            <a:ext cx="993206" cy="8890"/>
          </a:xfrm>
          <a:prstGeom prst="line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文本框 113"/>
          <p:cNvSpPr txBox="1"/>
          <p:nvPr/>
        </p:nvSpPr>
        <p:spPr>
          <a:xfrm>
            <a:off x="1641136" y="3537765"/>
            <a:ext cx="1562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C8161E"/>
                </a:solidFill>
              </a:rPr>
              <a:t>垂直方向电机</a:t>
            </a:r>
          </a:p>
        </p:txBody>
      </p:sp>
      <p:sp>
        <p:nvSpPr>
          <p:cNvPr id="115" name="文本框 114"/>
          <p:cNvSpPr txBox="1"/>
          <p:nvPr/>
        </p:nvSpPr>
        <p:spPr>
          <a:xfrm>
            <a:off x="4139821" y="3531668"/>
            <a:ext cx="1562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5495D3"/>
                </a:solidFill>
              </a:rPr>
              <a:t>水平方向电机</a:t>
            </a:r>
          </a:p>
        </p:txBody>
      </p:sp>
      <p:grpSp>
        <p:nvGrpSpPr>
          <p:cNvPr id="116" name="组合 115"/>
          <p:cNvGrpSpPr/>
          <p:nvPr/>
        </p:nvGrpSpPr>
        <p:grpSpPr>
          <a:xfrm>
            <a:off x="6301049" y="790039"/>
            <a:ext cx="5798697" cy="3176759"/>
            <a:chOff x="84692" y="773466"/>
            <a:chExt cx="6074612" cy="3176759"/>
          </a:xfrm>
        </p:grpSpPr>
        <p:grpSp>
          <p:nvGrpSpPr>
            <p:cNvPr id="117" name="组合 116"/>
            <p:cNvGrpSpPr/>
            <p:nvPr/>
          </p:nvGrpSpPr>
          <p:grpSpPr>
            <a:xfrm>
              <a:off x="84692" y="773466"/>
              <a:ext cx="6074612" cy="3176759"/>
              <a:chOff x="84692" y="773466"/>
              <a:chExt cx="6074612" cy="3176759"/>
            </a:xfrm>
          </p:grpSpPr>
          <p:sp>
            <p:nvSpPr>
              <p:cNvPr id="119" name="任意多边形: 形状 118"/>
              <p:cNvSpPr/>
              <p:nvPr/>
            </p:nvSpPr>
            <p:spPr>
              <a:xfrm>
                <a:off x="84692" y="774874"/>
                <a:ext cx="6064168" cy="426147"/>
              </a:xfrm>
              <a:custGeom>
                <a:avLst/>
                <a:gdLst>
                  <a:gd name="connsiteX0" fmla="*/ 233732 w 6064178"/>
                  <a:gd name="connsiteY0" fmla="*/ 0 h 768916"/>
                  <a:gd name="connsiteX1" fmla="*/ 5830446 w 6064178"/>
                  <a:gd name="connsiteY1" fmla="*/ 0 h 768916"/>
                  <a:gd name="connsiteX2" fmla="*/ 6064178 w 6064178"/>
                  <a:gd name="connsiteY2" fmla="*/ 233732 h 768916"/>
                  <a:gd name="connsiteX3" fmla="*/ 6064178 w 6064178"/>
                  <a:gd name="connsiteY3" fmla="*/ 768916 h 768916"/>
                  <a:gd name="connsiteX4" fmla="*/ 0 w 6064178"/>
                  <a:gd name="connsiteY4" fmla="*/ 768916 h 768916"/>
                  <a:gd name="connsiteX5" fmla="*/ 0 w 6064178"/>
                  <a:gd name="connsiteY5" fmla="*/ 233732 h 768916"/>
                  <a:gd name="connsiteX6" fmla="*/ 233732 w 6064178"/>
                  <a:gd name="connsiteY6" fmla="*/ 0 h 7689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64178" h="768916">
                    <a:moveTo>
                      <a:pt x="233732" y="0"/>
                    </a:moveTo>
                    <a:lnTo>
                      <a:pt x="5830446" y="0"/>
                    </a:lnTo>
                    <a:cubicBezTo>
                      <a:pt x="5959533" y="0"/>
                      <a:pt x="6064178" y="104645"/>
                      <a:pt x="6064178" y="233732"/>
                    </a:cubicBezTo>
                    <a:lnTo>
                      <a:pt x="6064178" y="768916"/>
                    </a:lnTo>
                    <a:lnTo>
                      <a:pt x="0" y="768916"/>
                    </a:lnTo>
                    <a:lnTo>
                      <a:pt x="0" y="233732"/>
                    </a:lnTo>
                    <a:cubicBezTo>
                      <a:pt x="0" y="104645"/>
                      <a:pt x="104645" y="0"/>
                      <a:pt x="233732" y="0"/>
                    </a:cubicBezTo>
                    <a:close/>
                  </a:path>
                </a:pathLst>
              </a:custGeom>
              <a:solidFill>
                <a:srgbClr val="C8161E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0" name="矩形: 圆角 119"/>
              <p:cNvSpPr/>
              <p:nvPr/>
            </p:nvSpPr>
            <p:spPr>
              <a:xfrm>
                <a:off x="95126" y="773466"/>
                <a:ext cx="6064178" cy="3176759"/>
              </a:xfrm>
              <a:prstGeom prst="roundRect">
                <a:avLst>
                  <a:gd name="adj" fmla="val 4198"/>
                </a:avLst>
              </a:prstGeom>
              <a:noFill/>
              <a:ln w="381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18" name="文本框 117"/>
            <p:cNvSpPr txBox="1"/>
            <p:nvPr/>
          </p:nvSpPr>
          <p:spPr>
            <a:xfrm>
              <a:off x="1546684" y="784866"/>
              <a:ext cx="316106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</a:rPr>
                <a:t>推力矩阵推导</a:t>
              </a:r>
            </a:p>
          </p:txBody>
        </p:sp>
      </p:grpSp>
      <p:sp>
        <p:nvSpPr>
          <p:cNvPr id="122" name="文本框 121"/>
          <p:cNvSpPr txBox="1"/>
          <p:nvPr/>
        </p:nvSpPr>
        <p:spPr>
          <a:xfrm>
            <a:off x="6470965" y="2312922"/>
            <a:ext cx="411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+mn-ea"/>
              </a:rPr>
              <a:t>推力矩阵：</a:t>
            </a:r>
          </a:p>
        </p:txBody>
      </p:sp>
      <p:grpSp>
        <p:nvGrpSpPr>
          <p:cNvPr id="123" name="组合 122"/>
          <p:cNvGrpSpPr/>
          <p:nvPr/>
        </p:nvGrpSpPr>
        <p:grpSpPr>
          <a:xfrm>
            <a:off x="5673307" y="4063930"/>
            <a:ext cx="6985417" cy="2290982"/>
            <a:chOff x="-549847" y="773466"/>
            <a:chExt cx="7317798" cy="3176759"/>
          </a:xfrm>
        </p:grpSpPr>
        <p:grpSp>
          <p:nvGrpSpPr>
            <p:cNvPr id="124" name="组合 123"/>
            <p:cNvGrpSpPr/>
            <p:nvPr/>
          </p:nvGrpSpPr>
          <p:grpSpPr>
            <a:xfrm>
              <a:off x="84692" y="773466"/>
              <a:ext cx="6074612" cy="3176759"/>
              <a:chOff x="84692" y="773466"/>
              <a:chExt cx="6074612" cy="3176759"/>
            </a:xfrm>
          </p:grpSpPr>
          <p:sp>
            <p:nvSpPr>
              <p:cNvPr id="126" name="任意多边形: 形状 125"/>
              <p:cNvSpPr/>
              <p:nvPr/>
            </p:nvSpPr>
            <p:spPr>
              <a:xfrm>
                <a:off x="84692" y="774873"/>
                <a:ext cx="6064168" cy="557816"/>
              </a:xfrm>
              <a:custGeom>
                <a:avLst/>
                <a:gdLst>
                  <a:gd name="connsiteX0" fmla="*/ 233732 w 6064178"/>
                  <a:gd name="connsiteY0" fmla="*/ 0 h 768916"/>
                  <a:gd name="connsiteX1" fmla="*/ 5830446 w 6064178"/>
                  <a:gd name="connsiteY1" fmla="*/ 0 h 768916"/>
                  <a:gd name="connsiteX2" fmla="*/ 6064178 w 6064178"/>
                  <a:gd name="connsiteY2" fmla="*/ 233732 h 768916"/>
                  <a:gd name="connsiteX3" fmla="*/ 6064178 w 6064178"/>
                  <a:gd name="connsiteY3" fmla="*/ 768916 h 768916"/>
                  <a:gd name="connsiteX4" fmla="*/ 0 w 6064178"/>
                  <a:gd name="connsiteY4" fmla="*/ 768916 h 768916"/>
                  <a:gd name="connsiteX5" fmla="*/ 0 w 6064178"/>
                  <a:gd name="connsiteY5" fmla="*/ 233732 h 768916"/>
                  <a:gd name="connsiteX6" fmla="*/ 233732 w 6064178"/>
                  <a:gd name="connsiteY6" fmla="*/ 0 h 7689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64178" h="768916">
                    <a:moveTo>
                      <a:pt x="233732" y="0"/>
                    </a:moveTo>
                    <a:lnTo>
                      <a:pt x="5830446" y="0"/>
                    </a:lnTo>
                    <a:cubicBezTo>
                      <a:pt x="5959533" y="0"/>
                      <a:pt x="6064178" y="104645"/>
                      <a:pt x="6064178" y="233732"/>
                    </a:cubicBezTo>
                    <a:lnTo>
                      <a:pt x="6064178" y="768916"/>
                    </a:lnTo>
                    <a:lnTo>
                      <a:pt x="0" y="768916"/>
                    </a:lnTo>
                    <a:lnTo>
                      <a:pt x="0" y="233732"/>
                    </a:lnTo>
                    <a:cubicBezTo>
                      <a:pt x="0" y="104645"/>
                      <a:pt x="104645" y="0"/>
                      <a:pt x="233732" y="0"/>
                    </a:cubicBezTo>
                    <a:close/>
                  </a:path>
                </a:pathLst>
              </a:custGeom>
              <a:solidFill>
                <a:srgbClr val="C8161E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7" name="矩形: 圆角 126"/>
              <p:cNvSpPr/>
              <p:nvPr/>
            </p:nvSpPr>
            <p:spPr>
              <a:xfrm>
                <a:off x="95126" y="773466"/>
                <a:ext cx="6064178" cy="3176759"/>
              </a:xfrm>
              <a:prstGeom prst="roundRect">
                <a:avLst>
                  <a:gd name="adj" fmla="val 4198"/>
                </a:avLst>
              </a:prstGeom>
              <a:noFill/>
              <a:ln w="381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25" name="文本框 124"/>
            <p:cNvSpPr txBox="1"/>
            <p:nvPr/>
          </p:nvSpPr>
          <p:spPr>
            <a:xfrm>
              <a:off x="-549847" y="784866"/>
              <a:ext cx="7317798" cy="5548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</a:rPr>
                <a:t>求最小二乘下的推力解：</a:t>
              </a:r>
              <a:r>
                <a:rPr lang="en-US" altLang="zh-CN" sz="2000" b="1" dirty="0">
                  <a:solidFill>
                    <a:schemeClr val="bg1"/>
                  </a:solidFill>
                </a:rPr>
                <a:t>Moore-Penrose</a:t>
              </a:r>
              <a:r>
                <a:rPr lang="zh-CN" altLang="en-US" sz="2000" b="1" dirty="0">
                  <a:solidFill>
                    <a:schemeClr val="bg1"/>
                  </a:solidFill>
                </a:rPr>
                <a:t>伪逆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硬件系统结构总览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4148295" y="1851007"/>
            <a:ext cx="1521683" cy="2103410"/>
            <a:chOff x="4704510" y="2446020"/>
            <a:chExt cx="2190961" cy="3028548"/>
          </a:xfrm>
        </p:grpSpPr>
        <p:pic>
          <p:nvPicPr>
            <p:cNvPr id="37" name="图片 36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779" t="29672" r="38328" b="24205"/>
            <a:stretch>
              <a:fillRect/>
            </a:stretch>
          </p:blipFill>
          <p:spPr>
            <a:xfrm>
              <a:off x="4975320" y="2446020"/>
              <a:ext cx="1646300" cy="2422843"/>
            </a:xfrm>
            <a:prstGeom prst="rect">
              <a:avLst/>
            </a:prstGeom>
          </p:spPr>
        </p:pic>
        <p:sp>
          <p:nvSpPr>
            <p:cNvPr id="2" name="文本框 1"/>
            <p:cNvSpPr txBox="1"/>
            <p:nvPr/>
          </p:nvSpPr>
          <p:spPr>
            <a:xfrm>
              <a:off x="4704510" y="4721221"/>
              <a:ext cx="2190961" cy="7533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 err="1">
                  <a:latin typeface="+mn-ea"/>
                </a:rPr>
                <a:t>RoboMaster</a:t>
              </a:r>
              <a:r>
                <a:rPr lang="en-US" altLang="zh-CN" sz="1400" b="1" dirty="0">
                  <a:latin typeface="+mn-ea"/>
                </a:rPr>
                <a:t> A</a:t>
              </a:r>
              <a:r>
                <a:rPr lang="zh-CN" altLang="en-US" sz="1400" b="1" dirty="0">
                  <a:latin typeface="+mn-ea"/>
                </a:rPr>
                <a:t>开发板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175126" y="1571258"/>
            <a:ext cx="1534358" cy="1659856"/>
            <a:chOff x="2300997" y="2651760"/>
            <a:chExt cx="2017604" cy="1971418"/>
          </a:xfrm>
        </p:grpSpPr>
        <p:pic>
          <p:nvPicPr>
            <p:cNvPr id="38" name="图片 37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70" t="14296" r="8029" b="23310"/>
            <a:stretch>
              <a:fillRect/>
            </a:stretch>
          </p:blipFill>
          <p:spPr>
            <a:xfrm>
              <a:off x="2722139" y="2651760"/>
              <a:ext cx="1175320" cy="811848"/>
            </a:xfrm>
            <a:prstGeom prst="rect">
              <a:avLst/>
            </a:prstGeom>
          </p:spPr>
        </p:pic>
        <p:pic>
          <p:nvPicPr>
            <p:cNvPr id="40" name="图片 39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70" t="14296" r="8029" b="23310"/>
            <a:stretch>
              <a:fillRect/>
            </a:stretch>
          </p:blipFill>
          <p:spPr>
            <a:xfrm>
              <a:off x="2722139" y="3503553"/>
              <a:ext cx="1175320" cy="811848"/>
            </a:xfrm>
            <a:prstGeom prst="rect">
              <a:avLst/>
            </a:prstGeom>
          </p:spPr>
        </p:pic>
        <p:sp>
          <p:nvSpPr>
            <p:cNvPr id="41" name="文本框 40"/>
            <p:cNvSpPr txBox="1"/>
            <p:nvPr/>
          </p:nvSpPr>
          <p:spPr>
            <a:xfrm>
              <a:off x="2300997" y="4315401"/>
              <a:ext cx="20176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+mn-ea"/>
                </a:rPr>
                <a:t>电机驱动器</a:t>
              </a: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6096000" y="2710483"/>
            <a:ext cx="1783205" cy="1316795"/>
            <a:chOff x="7490445" y="2914486"/>
            <a:chExt cx="2017604" cy="1489885"/>
          </a:xfrm>
        </p:grpSpPr>
        <p:pic>
          <p:nvPicPr>
            <p:cNvPr id="62" name="图片 61"/>
            <p:cNvPicPr/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525807" y="2914486"/>
              <a:ext cx="1946880" cy="1178134"/>
            </a:xfrm>
            <a:prstGeom prst="rect">
              <a:avLst/>
            </a:prstGeom>
          </p:spPr>
        </p:pic>
        <p:sp>
          <p:nvSpPr>
            <p:cNvPr id="63" name="文本框 62"/>
            <p:cNvSpPr txBox="1"/>
            <p:nvPr/>
          </p:nvSpPr>
          <p:spPr>
            <a:xfrm>
              <a:off x="7490445" y="4096594"/>
              <a:ext cx="20176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+mn-ea"/>
                </a:rPr>
                <a:t>电源保护板</a:t>
              </a: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2206824" y="5031347"/>
            <a:ext cx="1733853" cy="818883"/>
            <a:chOff x="4679375" y="5719843"/>
            <a:chExt cx="2017604" cy="952896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EFF"/>
                </a:clrFrom>
                <a:clrTo>
                  <a:srgbClr val="FFFEFF">
                    <a:alpha val="0"/>
                  </a:srgbClr>
                </a:clrTo>
              </a:clrChange>
            </a:blip>
            <a:srcRect l="5271" t="7332" r="5271" b="6194"/>
            <a:stretch>
              <a:fillRect/>
            </a:stretch>
          </p:blipFill>
          <p:spPr>
            <a:xfrm>
              <a:off x="4885066" y="5719843"/>
              <a:ext cx="1606222" cy="688327"/>
            </a:xfrm>
            <a:prstGeom prst="rect">
              <a:avLst/>
            </a:prstGeom>
          </p:spPr>
        </p:pic>
        <p:sp>
          <p:nvSpPr>
            <p:cNvPr id="65" name="文本框 64"/>
            <p:cNvSpPr txBox="1"/>
            <p:nvPr/>
          </p:nvSpPr>
          <p:spPr>
            <a:xfrm>
              <a:off x="4679375" y="6364962"/>
              <a:ext cx="20176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+mn-ea"/>
                </a:rPr>
                <a:t>TTL</a:t>
              </a:r>
              <a:r>
                <a:rPr lang="zh-CN" altLang="en-US" sz="1400" b="1" dirty="0">
                  <a:latin typeface="+mn-ea"/>
                </a:rPr>
                <a:t>转</a:t>
              </a:r>
              <a:r>
                <a:rPr lang="en-US" altLang="zh-CN" sz="1400" b="1" dirty="0">
                  <a:latin typeface="+mn-ea"/>
                </a:rPr>
                <a:t>RS485</a:t>
              </a:r>
              <a:endParaRPr lang="zh-CN" altLang="en-US" sz="1400" b="1" dirty="0">
                <a:latin typeface="+mn-ea"/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6022715" y="4273306"/>
            <a:ext cx="2017604" cy="1743173"/>
            <a:chOff x="9368072" y="2558805"/>
            <a:chExt cx="2017604" cy="1743173"/>
          </a:xfrm>
        </p:grpSpPr>
        <p:pic>
          <p:nvPicPr>
            <p:cNvPr id="70" name="图片 69"/>
            <p:cNvPicPr>
              <a:picLocks noChangeAspect="1"/>
            </p:cNvPicPr>
            <p:nvPr/>
          </p:nvPicPr>
          <p:blipFill rotWithShape="1">
            <a:blip r:embed="rId6" cstate="print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101" b="2869"/>
            <a:stretch>
              <a:fillRect/>
            </a:stretch>
          </p:blipFill>
          <p:spPr>
            <a:xfrm>
              <a:off x="9869370" y="2558805"/>
              <a:ext cx="1015008" cy="1435396"/>
            </a:xfrm>
            <a:prstGeom prst="rect">
              <a:avLst/>
            </a:prstGeom>
          </p:spPr>
        </p:pic>
        <p:sp>
          <p:nvSpPr>
            <p:cNvPr id="71" name="文本框 70"/>
            <p:cNvSpPr txBox="1"/>
            <p:nvPr/>
          </p:nvSpPr>
          <p:spPr>
            <a:xfrm>
              <a:off x="9368072" y="3994201"/>
              <a:ext cx="20176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+mn-ea"/>
                </a:rPr>
                <a:t>电力载波</a:t>
              </a:r>
            </a:p>
          </p:txBody>
        </p:sp>
      </p:grpSp>
      <p:sp>
        <p:nvSpPr>
          <p:cNvPr id="74" name="矩形: 圆角 73"/>
          <p:cNvSpPr/>
          <p:nvPr/>
        </p:nvSpPr>
        <p:spPr>
          <a:xfrm>
            <a:off x="172524" y="822961"/>
            <a:ext cx="8140896" cy="5463540"/>
          </a:xfrm>
          <a:prstGeom prst="roundRect">
            <a:avLst>
              <a:gd name="adj" fmla="val 5788"/>
            </a:avLst>
          </a:prstGeom>
          <a:noFill/>
          <a:ln w="28575"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5" name="组合 74"/>
          <p:cNvGrpSpPr/>
          <p:nvPr/>
        </p:nvGrpSpPr>
        <p:grpSpPr>
          <a:xfrm>
            <a:off x="9657806" y="4304502"/>
            <a:ext cx="2017604" cy="1743173"/>
            <a:chOff x="9368072" y="2558805"/>
            <a:chExt cx="2017604" cy="1743173"/>
          </a:xfrm>
        </p:grpSpPr>
        <p:pic>
          <p:nvPicPr>
            <p:cNvPr id="76" name="图片 75"/>
            <p:cNvPicPr>
              <a:picLocks noChangeAspect="1"/>
            </p:cNvPicPr>
            <p:nvPr/>
          </p:nvPicPr>
          <p:blipFill rotWithShape="1">
            <a:blip r:embed="rId6" cstate="print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101" b="2869"/>
            <a:stretch>
              <a:fillRect/>
            </a:stretch>
          </p:blipFill>
          <p:spPr>
            <a:xfrm>
              <a:off x="9869370" y="2558805"/>
              <a:ext cx="1015008" cy="1435396"/>
            </a:xfrm>
            <a:prstGeom prst="rect">
              <a:avLst/>
            </a:prstGeom>
          </p:spPr>
        </p:pic>
        <p:sp>
          <p:nvSpPr>
            <p:cNvPr id="77" name="文本框 76"/>
            <p:cNvSpPr txBox="1"/>
            <p:nvPr/>
          </p:nvSpPr>
          <p:spPr>
            <a:xfrm>
              <a:off x="9368072" y="3994201"/>
              <a:ext cx="20176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+mn-ea"/>
                </a:rPr>
                <a:t>电力载波</a:t>
              </a: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9480550" y="2035247"/>
            <a:ext cx="2294040" cy="1420449"/>
            <a:chOff x="9475828" y="2784050"/>
            <a:chExt cx="2294040" cy="1420449"/>
          </a:xfrm>
        </p:grpSpPr>
        <p:pic>
          <p:nvPicPr>
            <p:cNvPr id="80" name="图片 79"/>
            <p:cNvPicPr>
              <a:picLocks noChangeAspect="1"/>
            </p:cNvPicPr>
            <p:nvPr/>
          </p:nvPicPr>
          <p:blipFill>
            <a:blip r:embed="rId7" cstate="print">
              <a:clrChange>
                <a:clrFrom>
                  <a:srgbClr val="D8D9DB"/>
                </a:clrFrom>
                <a:clrTo>
                  <a:srgbClr val="D8D9DB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75828" y="2784050"/>
              <a:ext cx="2294040" cy="1148661"/>
            </a:xfrm>
            <a:prstGeom prst="rect">
              <a:avLst/>
            </a:prstGeom>
          </p:spPr>
        </p:pic>
        <p:sp>
          <p:nvSpPr>
            <p:cNvPr id="81" name="文本框 80"/>
            <p:cNvSpPr txBox="1"/>
            <p:nvPr/>
          </p:nvSpPr>
          <p:spPr>
            <a:xfrm>
              <a:off x="9614046" y="3896722"/>
              <a:ext cx="20176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+mn-ea"/>
                </a:rPr>
                <a:t>地面站（</a:t>
              </a:r>
              <a:r>
                <a:rPr lang="en-US" altLang="zh-CN" sz="1400" b="1" dirty="0" err="1">
                  <a:latin typeface="+mn-ea"/>
                </a:rPr>
                <a:t>SteamDeck</a:t>
              </a:r>
              <a:r>
                <a:rPr lang="zh-CN" altLang="en-US" sz="1400" b="1" dirty="0">
                  <a:latin typeface="+mn-ea"/>
                </a:rPr>
                <a:t>）</a:t>
              </a:r>
            </a:p>
          </p:txBody>
        </p:sp>
      </p:grpSp>
      <p:sp>
        <p:nvSpPr>
          <p:cNvPr id="83" name="矩形: 圆角 82"/>
          <p:cNvSpPr/>
          <p:nvPr/>
        </p:nvSpPr>
        <p:spPr>
          <a:xfrm>
            <a:off x="9111911" y="822961"/>
            <a:ext cx="2906118" cy="5463540"/>
          </a:xfrm>
          <a:prstGeom prst="roundRect">
            <a:avLst>
              <a:gd name="adj" fmla="val 5788"/>
            </a:avLst>
          </a:prstGeom>
          <a:noFill/>
          <a:ln w="28575"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文本框 83"/>
          <p:cNvSpPr txBox="1"/>
          <p:nvPr/>
        </p:nvSpPr>
        <p:spPr>
          <a:xfrm>
            <a:off x="9914962" y="85588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地面系统</a:t>
            </a:r>
          </a:p>
        </p:txBody>
      </p:sp>
      <p:sp>
        <p:nvSpPr>
          <p:cNvPr id="85" name="文本框 84"/>
          <p:cNvSpPr txBox="1"/>
          <p:nvPr/>
        </p:nvSpPr>
        <p:spPr>
          <a:xfrm>
            <a:off x="2908845" y="802853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水下机器人系统</a:t>
            </a:r>
          </a:p>
        </p:txBody>
      </p:sp>
      <p:grpSp>
        <p:nvGrpSpPr>
          <p:cNvPr id="92" name="组合 91"/>
          <p:cNvGrpSpPr/>
          <p:nvPr/>
        </p:nvGrpSpPr>
        <p:grpSpPr>
          <a:xfrm>
            <a:off x="6193775" y="1460047"/>
            <a:ext cx="1700880" cy="802535"/>
            <a:chOff x="5848054" y="-334780"/>
            <a:chExt cx="2175806" cy="1026622"/>
          </a:xfrm>
        </p:grpSpPr>
        <p:pic>
          <p:nvPicPr>
            <p:cNvPr id="89" name="图片 88"/>
            <p:cNvPicPr>
              <a:picLocks noChangeAspect="1"/>
            </p:cNvPicPr>
            <p:nvPr/>
          </p:nvPicPr>
          <p:blipFill rotWithShape="1">
            <a:blip r:embed="rId8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430" r="30000"/>
            <a:stretch>
              <a:fillRect/>
            </a:stretch>
          </p:blipFill>
          <p:spPr>
            <a:xfrm rot="16200000">
              <a:off x="6523130" y="-1009856"/>
              <a:ext cx="812509" cy="2162662"/>
            </a:xfrm>
            <a:prstGeom prst="rect">
              <a:avLst/>
            </a:prstGeom>
          </p:spPr>
        </p:pic>
        <p:sp>
          <p:nvSpPr>
            <p:cNvPr id="91" name="文本框 90"/>
            <p:cNvSpPr txBox="1"/>
            <p:nvPr/>
          </p:nvSpPr>
          <p:spPr>
            <a:xfrm>
              <a:off x="6006256" y="384065"/>
              <a:ext cx="20176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+mn-ea"/>
                </a:rPr>
                <a:t>锂电池</a:t>
              </a:r>
            </a:p>
          </p:txBody>
        </p:sp>
      </p:grpSp>
      <p:grpSp>
        <p:nvGrpSpPr>
          <p:cNvPr id="98" name="组合 97"/>
          <p:cNvGrpSpPr/>
          <p:nvPr/>
        </p:nvGrpSpPr>
        <p:grpSpPr>
          <a:xfrm>
            <a:off x="229273" y="1737841"/>
            <a:ext cx="1834138" cy="4317811"/>
            <a:chOff x="229273" y="1737841"/>
            <a:chExt cx="1834138" cy="4317811"/>
          </a:xfrm>
        </p:grpSpPr>
        <p:grpSp>
          <p:nvGrpSpPr>
            <p:cNvPr id="73" name="组合 72"/>
            <p:cNvGrpSpPr/>
            <p:nvPr/>
          </p:nvGrpSpPr>
          <p:grpSpPr>
            <a:xfrm>
              <a:off x="262924" y="1737841"/>
              <a:ext cx="1800487" cy="4317811"/>
              <a:chOff x="-101590" y="1445881"/>
              <a:chExt cx="2032141" cy="4873350"/>
            </a:xfrm>
          </p:grpSpPr>
          <p:grpSp>
            <p:nvGrpSpPr>
              <p:cNvPr id="61" name="组合 60"/>
              <p:cNvGrpSpPr/>
              <p:nvPr/>
            </p:nvGrpSpPr>
            <p:grpSpPr>
              <a:xfrm>
                <a:off x="-87053" y="1445881"/>
                <a:ext cx="2017604" cy="1738698"/>
                <a:chOff x="-299606" y="1552584"/>
                <a:chExt cx="2017604" cy="1738698"/>
              </a:xfrm>
            </p:grpSpPr>
            <p:pic>
              <p:nvPicPr>
                <p:cNvPr id="45" name="图片 44"/>
                <p:cNvPicPr>
                  <a:picLocks noChangeAspect="1"/>
                </p:cNvPicPr>
                <p:nvPr/>
              </p:nvPicPr>
              <p:blipFill rotWithShape="1">
                <a:blip r:embed="rId9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</a:blip>
                <a:srcRect l="9902" t="8092" r="2214"/>
                <a:stretch>
                  <a:fillRect/>
                </a:stretch>
              </p:blipFill>
              <p:spPr>
                <a:xfrm>
                  <a:off x="3494" y="1552584"/>
                  <a:ext cx="1326539" cy="1376469"/>
                </a:xfrm>
                <a:prstGeom prst="rect">
                  <a:avLst/>
                </a:prstGeom>
              </p:spPr>
            </p:pic>
            <p:sp>
              <p:nvSpPr>
                <p:cNvPr id="53" name="文本框 52"/>
                <p:cNvSpPr txBox="1"/>
                <p:nvPr/>
              </p:nvSpPr>
              <p:spPr>
                <a:xfrm>
                  <a:off x="-299606" y="2983505"/>
                  <a:ext cx="201760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400" b="1" dirty="0">
                      <a:latin typeface="+mn-ea"/>
                    </a:rPr>
                    <a:t>推进器</a:t>
                  </a:r>
                  <a:r>
                    <a:rPr lang="en-US" altLang="zh-CN" sz="1400" b="1" dirty="0">
                      <a:latin typeface="+mn-ea"/>
                    </a:rPr>
                    <a:t>*8</a:t>
                  </a:r>
                  <a:endParaRPr lang="zh-CN" altLang="en-US" sz="1400" b="1" dirty="0">
                    <a:latin typeface="+mn-ea"/>
                  </a:endParaRPr>
                </a:p>
              </p:txBody>
            </p:sp>
          </p:grpSp>
          <p:grpSp>
            <p:nvGrpSpPr>
              <p:cNvPr id="60" name="组合 59"/>
              <p:cNvGrpSpPr/>
              <p:nvPr/>
            </p:nvGrpSpPr>
            <p:grpSpPr>
              <a:xfrm>
                <a:off x="-101590" y="5182463"/>
                <a:ext cx="2017604" cy="1136768"/>
                <a:chOff x="-163139" y="5358622"/>
                <a:chExt cx="2017604" cy="1136768"/>
              </a:xfrm>
            </p:grpSpPr>
            <p:pic>
              <p:nvPicPr>
                <p:cNvPr id="56" name="图片 55"/>
                <p:cNvPicPr>
                  <a:picLocks noChangeAspect="1"/>
                </p:cNvPicPr>
                <p:nvPr/>
              </p:nvPicPr>
              <p:blipFill rotWithShape="1">
                <a:blip r:embed="rId10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</a:blip>
                <a:srcRect l="24741" t="11849" r="20367"/>
                <a:stretch>
                  <a:fillRect/>
                </a:stretch>
              </p:blipFill>
              <p:spPr>
                <a:xfrm rot="6705345">
                  <a:off x="706772" y="4599465"/>
                  <a:ext cx="385960" cy="1904273"/>
                </a:xfrm>
                <a:prstGeom prst="rect">
                  <a:avLst/>
                </a:prstGeom>
              </p:spPr>
            </p:pic>
            <p:sp>
              <p:nvSpPr>
                <p:cNvPr id="59" name="文本框 58"/>
                <p:cNvSpPr txBox="1"/>
                <p:nvPr/>
              </p:nvSpPr>
              <p:spPr>
                <a:xfrm>
                  <a:off x="-163139" y="6187613"/>
                  <a:ext cx="201760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400" b="1" dirty="0">
                      <a:latin typeface="+mn-ea"/>
                    </a:rPr>
                    <a:t>压力计</a:t>
                  </a:r>
                  <a:r>
                    <a:rPr lang="en-US" altLang="zh-CN" sz="1400" b="1" dirty="0">
                      <a:latin typeface="+mn-ea"/>
                    </a:rPr>
                    <a:t>*3</a:t>
                  </a:r>
                  <a:endParaRPr lang="zh-CN" altLang="en-US" sz="1400" b="1" dirty="0">
                    <a:latin typeface="+mn-ea"/>
                  </a:endParaRPr>
                </a:p>
              </p:txBody>
            </p:sp>
          </p:grpSp>
        </p:grpSp>
        <p:grpSp>
          <p:nvGrpSpPr>
            <p:cNvPr id="96" name="组合 95"/>
            <p:cNvGrpSpPr/>
            <p:nvPr/>
          </p:nvGrpSpPr>
          <p:grpSpPr>
            <a:xfrm>
              <a:off x="229273" y="3330311"/>
              <a:ext cx="1787607" cy="1371478"/>
              <a:chOff x="219982" y="3498545"/>
              <a:chExt cx="1787607" cy="1371478"/>
            </a:xfrm>
          </p:grpSpPr>
          <p:pic>
            <p:nvPicPr>
              <p:cNvPr id="94" name="图片 93"/>
              <p:cNvPicPr>
                <a:picLocks noChangeAspect="1"/>
              </p:cNvPicPr>
              <p:nvPr/>
            </p:nvPicPr>
            <p:blipFill rotWithShape="1">
              <a:blip r:embed="rId11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5128" b="26732"/>
              <a:stretch>
                <a:fillRect/>
              </a:stretch>
            </p:blipFill>
            <p:spPr>
              <a:xfrm>
                <a:off x="641657" y="3498545"/>
                <a:ext cx="822246" cy="867635"/>
              </a:xfrm>
              <a:prstGeom prst="rect">
                <a:avLst/>
              </a:prstGeom>
            </p:spPr>
          </p:pic>
          <p:sp>
            <p:nvSpPr>
              <p:cNvPr id="95" name="文本框 94"/>
              <p:cNvSpPr txBox="1"/>
              <p:nvPr/>
            </p:nvSpPr>
            <p:spPr>
              <a:xfrm>
                <a:off x="219982" y="4562246"/>
                <a:ext cx="178760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b="1" dirty="0">
                    <a:latin typeface="+mn-ea"/>
                  </a:rPr>
                  <a:t>机械臂舵机</a:t>
                </a:r>
                <a:r>
                  <a:rPr lang="en-US" altLang="zh-CN" sz="1400" b="1" dirty="0">
                    <a:latin typeface="+mn-ea"/>
                  </a:rPr>
                  <a:t>*4</a:t>
                </a:r>
                <a:endParaRPr lang="zh-CN" altLang="en-US" sz="1400" b="1" dirty="0">
                  <a:latin typeface="+mn-ea"/>
                </a:endParaRPr>
              </a:p>
            </p:txBody>
          </p:sp>
        </p:grpSp>
      </p:grpSp>
      <p:grpSp>
        <p:nvGrpSpPr>
          <p:cNvPr id="144" name="组合 143"/>
          <p:cNvGrpSpPr/>
          <p:nvPr/>
        </p:nvGrpSpPr>
        <p:grpSpPr>
          <a:xfrm>
            <a:off x="7566660" y="4889338"/>
            <a:ext cx="2548684" cy="331078"/>
            <a:chOff x="7566660" y="4889338"/>
            <a:chExt cx="2548684" cy="331078"/>
          </a:xfrm>
        </p:grpSpPr>
        <p:cxnSp>
          <p:nvCxnSpPr>
            <p:cNvPr id="100" name="直接箭头连接符 99"/>
            <p:cNvCxnSpPr/>
            <p:nvPr/>
          </p:nvCxnSpPr>
          <p:spPr>
            <a:xfrm>
              <a:off x="7566660" y="5220416"/>
              <a:ext cx="2548684" cy="0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文本框 102"/>
            <p:cNvSpPr txBox="1"/>
            <p:nvPr/>
          </p:nvSpPr>
          <p:spPr>
            <a:xfrm>
              <a:off x="8249214" y="4889338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浮力线缆</a:t>
              </a:r>
            </a:p>
          </p:txBody>
        </p:sp>
      </p:grpSp>
      <p:grpSp>
        <p:nvGrpSpPr>
          <p:cNvPr id="126" name="组合 125"/>
          <p:cNvGrpSpPr/>
          <p:nvPr/>
        </p:nvGrpSpPr>
        <p:grpSpPr>
          <a:xfrm>
            <a:off x="10159104" y="3418421"/>
            <a:ext cx="543739" cy="894392"/>
            <a:chOff x="10159104" y="3418421"/>
            <a:chExt cx="543739" cy="894392"/>
          </a:xfrm>
        </p:grpSpPr>
        <p:cxnSp>
          <p:nvCxnSpPr>
            <p:cNvPr id="104" name="直接箭头连接符 103"/>
            <p:cNvCxnSpPr/>
            <p:nvPr/>
          </p:nvCxnSpPr>
          <p:spPr>
            <a:xfrm>
              <a:off x="10666608" y="3418421"/>
              <a:ext cx="0" cy="894392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文本框 107"/>
            <p:cNvSpPr txBox="1"/>
            <p:nvPr/>
          </p:nvSpPr>
          <p:spPr>
            <a:xfrm>
              <a:off x="10159104" y="3699614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网线</a:t>
              </a:r>
            </a:p>
          </p:txBody>
        </p:sp>
      </p:grpSp>
      <p:cxnSp>
        <p:nvCxnSpPr>
          <p:cNvPr id="110" name="直接连接符 109"/>
          <p:cNvCxnSpPr/>
          <p:nvPr/>
        </p:nvCxnSpPr>
        <p:spPr>
          <a:xfrm flipH="1">
            <a:off x="2140931" y="1432560"/>
            <a:ext cx="17214" cy="4689409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文本框 111"/>
          <p:cNvSpPr txBox="1"/>
          <p:nvPr/>
        </p:nvSpPr>
        <p:spPr>
          <a:xfrm>
            <a:off x="536849" y="1320264"/>
            <a:ext cx="1258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设备舱外</a:t>
            </a:r>
          </a:p>
        </p:txBody>
      </p:sp>
      <p:sp>
        <p:nvSpPr>
          <p:cNvPr id="113" name="文本框 112"/>
          <p:cNvSpPr txBox="1"/>
          <p:nvPr/>
        </p:nvSpPr>
        <p:spPr>
          <a:xfrm>
            <a:off x="4517002" y="1252798"/>
            <a:ext cx="1258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设备舱内</a:t>
            </a:r>
          </a:p>
        </p:txBody>
      </p:sp>
      <p:cxnSp>
        <p:nvCxnSpPr>
          <p:cNvPr id="115" name="直接连接符 114"/>
          <p:cNvCxnSpPr/>
          <p:nvPr/>
        </p:nvCxnSpPr>
        <p:spPr>
          <a:xfrm flipH="1">
            <a:off x="330720" y="1252798"/>
            <a:ext cx="7841548" cy="1172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2" name="组合 121"/>
          <p:cNvGrpSpPr/>
          <p:nvPr/>
        </p:nvGrpSpPr>
        <p:grpSpPr>
          <a:xfrm>
            <a:off x="4063469" y="4938074"/>
            <a:ext cx="2017604" cy="1095957"/>
            <a:chOff x="3756220" y="4101157"/>
            <a:chExt cx="2017604" cy="1095957"/>
          </a:xfrm>
        </p:grpSpPr>
        <p:pic>
          <p:nvPicPr>
            <p:cNvPr id="120" name="图片 119"/>
            <p:cNvPicPr>
              <a:picLocks noChangeAspect="1"/>
            </p:cNvPicPr>
            <p:nvPr/>
          </p:nvPicPr>
          <p:blipFill rotWithShape="1">
            <a:blip r:embed="rId12" cstate="print">
              <a:clrChange>
                <a:clrFrom>
                  <a:srgbClr val="EDEBF0"/>
                </a:clrFrom>
                <a:clrTo>
                  <a:srgbClr val="EDEBF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771" t="16604" r="14457" b="18345"/>
            <a:stretch>
              <a:fillRect/>
            </a:stretch>
          </p:blipFill>
          <p:spPr>
            <a:xfrm>
              <a:off x="4061959" y="4101157"/>
              <a:ext cx="1432962" cy="861136"/>
            </a:xfrm>
            <a:prstGeom prst="rect">
              <a:avLst/>
            </a:prstGeom>
          </p:spPr>
        </p:pic>
        <p:sp>
          <p:nvSpPr>
            <p:cNvPr id="121" name="文本框 120"/>
            <p:cNvSpPr txBox="1"/>
            <p:nvPr/>
          </p:nvSpPr>
          <p:spPr>
            <a:xfrm>
              <a:off x="3756220" y="4889337"/>
              <a:ext cx="20176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+mn-ea"/>
                </a:rPr>
                <a:t>树莓派</a:t>
              </a:r>
            </a:p>
          </p:txBody>
        </p:sp>
      </p:grpSp>
      <p:cxnSp>
        <p:nvCxnSpPr>
          <p:cNvPr id="123" name="直接箭头连接符 122"/>
          <p:cNvCxnSpPr/>
          <p:nvPr/>
        </p:nvCxnSpPr>
        <p:spPr>
          <a:xfrm>
            <a:off x="5789365" y="5282400"/>
            <a:ext cx="734648" cy="0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文本框 124"/>
          <p:cNvSpPr txBox="1"/>
          <p:nvPr/>
        </p:nvSpPr>
        <p:spPr>
          <a:xfrm>
            <a:off x="5936514" y="497860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网线</a:t>
            </a:r>
          </a:p>
        </p:txBody>
      </p:sp>
      <p:cxnSp>
        <p:nvCxnSpPr>
          <p:cNvPr id="131" name="直接箭头连接符 130"/>
          <p:cNvCxnSpPr/>
          <p:nvPr/>
        </p:nvCxnSpPr>
        <p:spPr>
          <a:xfrm>
            <a:off x="7113670" y="2294017"/>
            <a:ext cx="0" cy="47703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箭头连接符 131"/>
          <p:cNvCxnSpPr>
            <a:stCxn id="63" idx="2"/>
          </p:cNvCxnSpPr>
          <p:nvPr/>
        </p:nvCxnSpPr>
        <p:spPr>
          <a:xfrm>
            <a:off x="6987603" y="4027278"/>
            <a:ext cx="61" cy="2100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箭头连接符 134"/>
          <p:cNvCxnSpPr/>
          <p:nvPr/>
        </p:nvCxnSpPr>
        <p:spPr>
          <a:xfrm flipH="1">
            <a:off x="5511035" y="3301807"/>
            <a:ext cx="806410" cy="561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8" name="组合 137"/>
          <p:cNvGrpSpPr/>
          <p:nvPr/>
        </p:nvGrpSpPr>
        <p:grpSpPr>
          <a:xfrm>
            <a:off x="4908156" y="3832861"/>
            <a:ext cx="543739" cy="1128754"/>
            <a:chOff x="10159104" y="3418421"/>
            <a:chExt cx="543739" cy="894392"/>
          </a:xfrm>
        </p:grpSpPr>
        <p:cxnSp>
          <p:nvCxnSpPr>
            <p:cNvPr id="139" name="直接箭头连接符 138"/>
            <p:cNvCxnSpPr/>
            <p:nvPr/>
          </p:nvCxnSpPr>
          <p:spPr>
            <a:xfrm>
              <a:off x="10666608" y="3418421"/>
              <a:ext cx="0" cy="894392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文本框 139"/>
            <p:cNvSpPr txBox="1"/>
            <p:nvPr/>
          </p:nvSpPr>
          <p:spPr>
            <a:xfrm>
              <a:off x="10159104" y="3699614"/>
              <a:ext cx="543739" cy="243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串口</a:t>
              </a:r>
            </a:p>
          </p:txBody>
        </p:sp>
      </p:grpSp>
      <p:sp>
        <p:nvSpPr>
          <p:cNvPr id="143" name="文本框 142"/>
          <p:cNvSpPr txBox="1"/>
          <p:nvPr/>
        </p:nvSpPr>
        <p:spPr>
          <a:xfrm>
            <a:off x="3923604" y="419326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串口</a:t>
            </a:r>
          </a:p>
        </p:txBody>
      </p:sp>
      <p:grpSp>
        <p:nvGrpSpPr>
          <p:cNvPr id="145" name="组合 144"/>
          <p:cNvGrpSpPr/>
          <p:nvPr/>
        </p:nvGrpSpPr>
        <p:grpSpPr>
          <a:xfrm>
            <a:off x="3506356" y="2109368"/>
            <a:ext cx="817763" cy="347588"/>
            <a:chOff x="7433510" y="4872828"/>
            <a:chExt cx="2681834" cy="347588"/>
          </a:xfrm>
        </p:grpSpPr>
        <p:cxnSp>
          <p:nvCxnSpPr>
            <p:cNvPr id="146" name="直接箭头连接符 145"/>
            <p:cNvCxnSpPr/>
            <p:nvPr/>
          </p:nvCxnSpPr>
          <p:spPr>
            <a:xfrm>
              <a:off x="7566660" y="5220416"/>
              <a:ext cx="2548684" cy="0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文本框 146"/>
            <p:cNvSpPr txBox="1"/>
            <p:nvPr/>
          </p:nvSpPr>
          <p:spPr>
            <a:xfrm>
              <a:off x="7433510" y="4872828"/>
              <a:ext cx="266635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DSHOT</a:t>
              </a:r>
              <a:endParaRPr lang="zh-CN" altLang="en-US" sz="1400" dirty="0"/>
            </a:p>
          </p:txBody>
        </p:sp>
      </p:grpSp>
      <p:grpSp>
        <p:nvGrpSpPr>
          <p:cNvPr id="148" name="组合 147"/>
          <p:cNvGrpSpPr/>
          <p:nvPr/>
        </p:nvGrpSpPr>
        <p:grpSpPr>
          <a:xfrm>
            <a:off x="1619609" y="4897855"/>
            <a:ext cx="817763" cy="347588"/>
            <a:chOff x="7433510" y="4872828"/>
            <a:chExt cx="2681834" cy="347588"/>
          </a:xfrm>
        </p:grpSpPr>
        <p:cxnSp>
          <p:nvCxnSpPr>
            <p:cNvPr id="149" name="直接箭头连接符 148"/>
            <p:cNvCxnSpPr/>
            <p:nvPr/>
          </p:nvCxnSpPr>
          <p:spPr>
            <a:xfrm>
              <a:off x="7566660" y="5220416"/>
              <a:ext cx="2548684" cy="0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文本框 149"/>
            <p:cNvSpPr txBox="1"/>
            <p:nvPr/>
          </p:nvSpPr>
          <p:spPr>
            <a:xfrm>
              <a:off x="7433510" y="4872828"/>
              <a:ext cx="240350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RS485</a:t>
              </a:r>
              <a:endParaRPr lang="zh-CN" altLang="en-US" sz="1400" dirty="0"/>
            </a:p>
          </p:txBody>
        </p:sp>
      </p:grpSp>
      <p:grpSp>
        <p:nvGrpSpPr>
          <p:cNvPr id="151" name="组合 150"/>
          <p:cNvGrpSpPr/>
          <p:nvPr/>
        </p:nvGrpSpPr>
        <p:grpSpPr>
          <a:xfrm>
            <a:off x="1740656" y="1993877"/>
            <a:ext cx="817763" cy="347588"/>
            <a:chOff x="7433510" y="4872828"/>
            <a:chExt cx="2681834" cy="347588"/>
          </a:xfrm>
        </p:grpSpPr>
        <p:cxnSp>
          <p:nvCxnSpPr>
            <p:cNvPr id="152" name="直接箭头连接符 151"/>
            <p:cNvCxnSpPr/>
            <p:nvPr/>
          </p:nvCxnSpPr>
          <p:spPr>
            <a:xfrm>
              <a:off x="7566660" y="5220416"/>
              <a:ext cx="2548684" cy="0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文本框 152"/>
            <p:cNvSpPr txBox="1"/>
            <p:nvPr/>
          </p:nvSpPr>
          <p:spPr>
            <a:xfrm>
              <a:off x="7433510" y="4872828"/>
              <a:ext cx="237196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三相线</a:t>
              </a:r>
            </a:p>
          </p:txBody>
        </p:sp>
      </p:grpSp>
      <p:grpSp>
        <p:nvGrpSpPr>
          <p:cNvPr id="157" name="组合 156"/>
          <p:cNvGrpSpPr/>
          <p:nvPr/>
        </p:nvGrpSpPr>
        <p:grpSpPr>
          <a:xfrm>
            <a:off x="2187915" y="3907549"/>
            <a:ext cx="1534358" cy="1030458"/>
            <a:chOff x="2189457" y="3567611"/>
            <a:chExt cx="1534358" cy="1030458"/>
          </a:xfrm>
        </p:grpSpPr>
        <p:pic>
          <p:nvPicPr>
            <p:cNvPr id="155" name="图片 154"/>
            <p:cNvPicPr>
              <a:picLocks noChangeAspect="1"/>
            </p:cNvPicPr>
            <p:nvPr/>
          </p:nvPicPr>
          <p:blipFill rotWithShape="1"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764" t="12094" r="4462"/>
            <a:stretch>
              <a:fillRect/>
            </a:stretch>
          </p:blipFill>
          <p:spPr>
            <a:xfrm>
              <a:off x="2390788" y="3567611"/>
              <a:ext cx="1159374" cy="786148"/>
            </a:xfrm>
            <a:prstGeom prst="rect">
              <a:avLst/>
            </a:prstGeom>
          </p:spPr>
        </p:pic>
        <p:sp>
          <p:nvSpPr>
            <p:cNvPr id="156" name="文本框 155"/>
            <p:cNvSpPr txBox="1"/>
            <p:nvPr/>
          </p:nvSpPr>
          <p:spPr>
            <a:xfrm>
              <a:off x="2189457" y="4290292"/>
              <a:ext cx="15343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+mn-ea"/>
                </a:rPr>
                <a:t>IMU</a:t>
              </a:r>
              <a:endParaRPr lang="zh-CN" altLang="en-US" sz="1400" b="1" dirty="0">
                <a:latin typeface="+mn-ea"/>
              </a:endParaRPr>
            </a:p>
          </p:txBody>
        </p:sp>
      </p:grpSp>
      <p:cxnSp>
        <p:nvCxnSpPr>
          <p:cNvPr id="162" name="连接符: 肘形 161"/>
          <p:cNvCxnSpPr/>
          <p:nvPr/>
        </p:nvCxnSpPr>
        <p:spPr>
          <a:xfrm rot="10800000">
            <a:off x="3544835" y="1734409"/>
            <a:ext cx="2477882" cy="1565522"/>
          </a:xfrm>
          <a:prstGeom prst="bentConnector3">
            <a:avLst>
              <a:gd name="adj1" fmla="val 1412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连接符: 肘形 171"/>
          <p:cNvCxnSpPr/>
          <p:nvPr/>
        </p:nvCxnSpPr>
        <p:spPr>
          <a:xfrm rot="10800000" flipV="1">
            <a:off x="1531620" y="3256536"/>
            <a:ext cx="2812276" cy="436270"/>
          </a:xfrm>
          <a:prstGeom prst="bentConnector3">
            <a:avLst>
              <a:gd name="adj1" fmla="val 50000"/>
            </a:avLst>
          </a:prstGeom>
          <a:ln w="28575">
            <a:solidFill>
              <a:srgbClr val="173A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文本框 174"/>
          <p:cNvSpPr txBox="1"/>
          <p:nvPr/>
        </p:nvSpPr>
        <p:spPr>
          <a:xfrm>
            <a:off x="2135560" y="3403996"/>
            <a:ext cx="6238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PWM</a:t>
            </a:r>
            <a:endParaRPr lang="zh-CN" altLang="en-US" sz="1400" dirty="0"/>
          </a:p>
        </p:txBody>
      </p:sp>
      <p:cxnSp>
        <p:nvCxnSpPr>
          <p:cNvPr id="176" name="连接符: 肘形 175"/>
          <p:cNvCxnSpPr/>
          <p:nvPr/>
        </p:nvCxnSpPr>
        <p:spPr>
          <a:xfrm rot="5400000">
            <a:off x="3622886" y="3908564"/>
            <a:ext cx="1169508" cy="1134921"/>
          </a:xfrm>
          <a:prstGeom prst="bentConnector3">
            <a:avLst>
              <a:gd name="adj1" fmla="val 50000"/>
            </a:avLst>
          </a:prstGeom>
          <a:ln w="28575">
            <a:solidFill>
              <a:srgbClr val="173A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连接符: 肘形 184"/>
          <p:cNvCxnSpPr/>
          <p:nvPr/>
        </p:nvCxnSpPr>
        <p:spPr>
          <a:xfrm rot="10800000" flipV="1">
            <a:off x="3240666" y="3460723"/>
            <a:ext cx="999387" cy="412900"/>
          </a:xfrm>
          <a:prstGeom prst="bentConnector3">
            <a:avLst>
              <a:gd name="adj1" fmla="val 100323"/>
            </a:avLst>
          </a:prstGeom>
          <a:ln w="28575">
            <a:solidFill>
              <a:srgbClr val="173A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文本框 189"/>
          <p:cNvSpPr txBox="1"/>
          <p:nvPr/>
        </p:nvSpPr>
        <p:spPr>
          <a:xfrm>
            <a:off x="3483075" y="3422779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串口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9FD0487D-373D-B5D0-D1F4-D38A04674B50}"/>
              </a:ext>
            </a:extLst>
          </p:cNvPr>
          <p:cNvSpPr txBox="1"/>
          <p:nvPr/>
        </p:nvSpPr>
        <p:spPr>
          <a:xfrm>
            <a:off x="59376" y="5146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标题</a:t>
            </a:r>
            <a:endParaRPr lang="en-US" altLang="zh-CN" sz="3200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580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</TotalTime>
  <Words>382</Words>
  <Application>Microsoft Office PowerPoint</Application>
  <PresentationFormat>宽屏</PresentationFormat>
  <Paragraphs>132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Microsoft YaHei UI</vt:lpstr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佳铭 郭</dc:creator>
  <cp:lastModifiedBy>佳铭 郭</cp:lastModifiedBy>
  <cp:revision>5</cp:revision>
  <dcterms:created xsi:type="dcterms:W3CDTF">2026-03-24T08:30:15Z</dcterms:created>
  <dcterms:modified xsi:type="dcterms:W3CDTF">2026-04-29T15:21:15Z</dcterms:modified>
</cp:coreProperties>
</file>